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70" r:id="rId7"/>
    <p:sldId id="261" r:id="rId8"/>
    <p:sldId id="262" r:id="rId9"/>
    <p:sldId id="263" r:id="rId10"/>
    <p:sldId id="264" r:id="rId11"/>
    <p:sldId id="266" r:id="rId12"/>
    <p:sldId id="272" r:id="rId13"/>
  </p:sldIdLst>
  <p:sldSz cx="9144000" cy="5143500" type="screen16x9"/>
  <p:notesSz cx="6858000" cy="9144000"/>
  <p:embeddedFontLst>
    <p:embeddedFont>
      <p:font typeface="Hanken Grotesk" panose="020B060402020202020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Roboto Mono" panose="00000009000000000000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6" dt="2026-09-13T19:34:20.918"/>
    <p1510:client id="{640083FF-EB44-813C-C6E0-9188811C4F29}" v="293" dt="2026-09-13T20:29:44.612"/>
  </p1510:revLst>
</p1510:revInfo>
</file>

<file path=ppt/tableStyles.xml><?xml version="1.0" encoding="utf-8"?>
<a:tblStyleLst xmlns:a="http://schemas.openxmlformats.org/drawingml/2006/main" def="{E9B8454B-5764-4BB1-AD28-139B763AD529}">
  <a:tblStyle styleId="{E9B8454B-5764-4BB1-AD28-139B763AD5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6dfe6d78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C1CC6092-E48B-0804-7E74-36CF46C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>
            <a:extLst>
              <a:ext uri="{FF2B5EF4-FFF2-40B4-BE49-F238E27FC236}">
                <a16:creationId xmlns:a16="http://schemas.microsoft.com/office/drawing/2014/main" id="{DA9A093D-2019-4456-FF4E-49021F6BA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>
            <a:extLst>
              <a:ext uri="{FF2B5EF4-FFF2-40B4-BE49-F238E27FC236}">
                <a16:creationId xmlns:a16="http://schemas.microsoft.com/office/drawing/2014/main" id="{DAED381A-4990-7EB2-180C-19C9A7F939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132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fb61485a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fb61485a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A0E6FC55-1B3B-8F66-549B-1C223156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>
            <a:extLst>
              <a:ext uri="{FF2B5EF4-FFF2-40B4-BE49-F238E27FC236}">
                <a16:creationId xmlns:a16="http://schemas.microsoft.com/office/drawing/2014/main" id="{E3E4C412-72F4-6809-D82F-DDB57D7DB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>
            <a:extLst>
              <a:ext uri="{FF2B5EF4-FFF2-40B4-BE49-F238E27FC236}">
                <a16:creationId xmlns:a16="http://schemas.microsoft.com/office/drawing/2014/main" id="{69415413-D2C6-6920-1DD7-5091DFCF7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0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3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Google Shape;20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3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2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5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 hasCustomPrompt="1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6" hasCustomPrompt="1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7" hasCustomPrompt="1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8" hasCustomPrompt="1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9" hasCustomPrompt="1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>
            <a:spLocks noGrp="1"/>
          </p:cNvSpPr>
          <p:nvPr>
            <p:ph type="subTitle" idx="1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2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3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 hasCustomPrompt="1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 idx="4" hasCustomPrompt="1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 idx="5" hasCustomPrompt="1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26" name="Google Shape;126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>
            <a:spLocks noGrp="1"/>
          </p:cNvSpPr>
          <p:nvPr>
            <p:ph type="subTitle" idx="1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2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3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4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5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6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 idx="7" hasCustomPrompt="1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 idx="8" hasCustomPrompt="1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 idx="9" hasCustomPrompt="1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13" hasCustomPrompt="1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 idx="14" hasCustomPrompt="1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 idx="15" hasCustomPrompt="1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42" name="Google Shape;142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>
            <a:spLocks noGrp="1"/>
          </p:cNvSpPr>
          <p:nvPr>
            <p:ph type="title" hasCustomPrompt="1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2" hasCustomPrompt="1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3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l="19763" t="14676" r="19447" b="47107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descr="nature-landscape-with-vegetation-flora.jpg" title="nature-landscape-with-vegetation-flora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t="3240" b="3240"/>
          <a:stretch/>
        </p:blipFill>
        <p:spPr>
          <a:xfrm>
            <a:off x="5813313" y="1340888"/>
            <a:ext cx="2823739" cy="2648200"/>
          </a:xfrm>
          <a:prstGeom prst="rect">
            <a:avLst/>
          </a:prstGeom>
        </p:spPr>
      </p:pic>
      <p:sp>
        <p:nvSpPr>
          <p:cNvPr id="180" name="Google Shape;180;p28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" sz="4000" dirty="0">
                <a:latin typeface="Times New Roman"/>
                <a:cs typeface="Times New Roman"/>
              </a:rPr>
            </a:br>
            <a:r>
              <a:rPr lang="en" sz="4000" dirty="0">
                <a:latin typeface="Times New Roman"/>
                <a:cs typeface="Times New Roman"/>
              </a:rPr>
              <a:t>Apresentação sobre o</a:t>
            </a:r>
            <a:br>
              <a:rPr lang="en" sz="4000" dirty="0">
                <a:latin typeface="Times New Roman"/>
                <a:cs typeface="Times New Roman"/>
              </a:rPr>
            </a:br>
            <a:r>
              <a:rPr lang="en" sz="4000">
                <a:latin typeface="Times New Roman"/>
                <a:cs typeface="Times New Roman"/>
              </a:rPr>
              <a:t>Linux Mint</a:t>
            </a:r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500" err="1">
                <a:latin typeface="Arial"/>
                <a:cs typeface="Arial"/>
              </a:rPr>
              <a:t>Alunos</a:t>
            </a:r>
            <a:r>
              <a:rPr lang="en" sz="1500" dirty="0">
                <a:latin typeface="Arial"/>
                <a:cs typeface="Arial"/>
              </a:rPr>
              <a:t>: Gabriel Toledo, Karl Santos,</a:t>
            </a:r>
            <a:br>
              <a:rPr lang="en" sz="1500" dirty="0">
                <a:latin typeface="Arial"/>
                <a:cs typeface="Arial"/>
              </a:rPr>
            </a:br>
            <a:r>
              <a:rPr lang="en" sz="1500" dirty="0">
                <a:latin typeface="Arial"/>
                <a:cs typeface="Arial"/>
              </a:rPr>
              <a:t>Marcos Silva, Enzo Vieira, Vinicius </a:t>
            </a:r>
            <a:r>
              <a:rPr lang="en" sz="1500">
                <a:latin typeface="Arial"/>
                <a:cs typeface="Arial"/>
              </a:rPr>
              <a:t>Munhoz, Matheus Kadota.</a:t>
            </a:r>
            <a:endParaRPr lang="en"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>
                <a:latin typeface="Times New Roman"/>
                <a:cs typeface="Times New Roman"/>
              </a:rPr>
              <a:t>Introdução</a:t>
            </a:r>
            <a:r>
              <a:rPr lang="en" dirty="0">
                <a:latin typeface="Times New Roman"/>
                <a:cs typeface="Times New Roman"/>
              </a:rPr>
              <a:t> e Filosofia do Sistema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0" y="4801425"/>
            <a:ext cx="9144000" cy="34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F5ADD-B2FA-0B56-9E13-C6B7D3E7A626}"/>
              </a:ext>
            </a:extLst>
          </p:cNvPr>
          <p:cNvSpPr txBox="1"/>
          <p:nvPr/>
        </p:nvSpPr>
        <p:spPr>
          <a:xfrm>
            <a:off x="500062" y="1643062"/>
            <a:ext cx="8016875" cy="23852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Roboto Mono"/>
              </a:rPr>
              <a:t>O </a:t>
            </a:r>
            <a:r>
              <a:rPr lang="en-US" sz="1500" b="1" dirty="0">
                <a:ea typeface="Roboto Mono"/>
              </a:rPr>
              <a:t>Linux Mint</a:t>
            </a:r>
            <a:r>
              <a:rPr lang="en-US" sz="1500" dirty="0">
                <a:ea typeface="Roboto Mono"/>
              </a:rPr>
              <a:t> é </a:t>
            </a:r>
            <a:r>
              <a:rPr lang="en-US" sz="1500" err="1">
                <a:ea typeface="Roboto Mono"/>
              </a:rPr>
              <a:t>uma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distribuição</a:t>
            </a:r>
            <a:r>
              <a:rPr lang="en-US" sz="1500" dirty="0">
                <a:ea typeface="Roboto Mono"/>
              </a:rPr>
              <a:t> (</a:t>
            </a:r>
            <a:r>
              <a:rPr lang="en-US" sz="1500" err="1">
                <a:ea typeface="Roboto Mono"/>
              </a:rPr>
              <a:t>ou</a:t>
            </a:r>
            <a:r>
              <a:rPr lang="en-US" sz="1500" dirty="0">
                <a:ea typeface="Roboto Mono"/>
              </a:rPr>
              <a:t> "distro") do </a:t>
            </a:r>
            <a:r>
              <a:rPr lang="en-US" sz="1500" err="1">
                <a:ea typeface="Roboto Mono"/>
              </a:rPr>
              <a:t>sistema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operacional</a:t>
            </a:r>
            <a:r>
              <a:rPr lang="en-US" sz="1500" dirty="0">
                <a:ea typeface="Roboto Mono"/>
              </a:rPr>
              <a:t> GNU/Linux. Seu principal </a:t>
            </a:r>
            <a:r>
              <a:rPr lang="en-US" sz="1500" err="1">
                <a:ea typeface="Roboto Mono"/>
              </a:rPr>
              <a:t>diferencial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em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relação</a:t>
            </a:r>
            <a:r>
              <a:rPr lang="en-US" sz="1500" dirty="0">
                <a:ea typeface="Roboto Mono"/>
              </a:rPr>
              <a:t> a outros </a:t>
            </a:r>
            <a:r>
              <a:rPr lang="en-US" sz="1500" err="1">
                <a:ea typeface="Roboto Mono"/>
              </a:rPr>
              <a:t>sistemas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operacionais</a:t>
            </a:r>
            <a:r>
              <a:rPr lang="en-US" sz="1500" dirty="0">
                <a:ea typeface="Roboto Mono"/>
              </a:rPr>
              <a:t> é a </a:t>
            </a:r>
            <a:r>
              <a:rPr lang="en-US" sz="1500" err="1">
                <a:ea typeface="Roboto Mono"/>
              </a:rPr>
              <a:t>sua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filosofia</a:t>
            </a:r>
            <a:r>
              <a:rPr lang="en-US" sz="1500" dirty="0">
                <a:ea typeface="Roboto Mono"/>
              </a:rPr>
              <a:t> de design: o </a:t>
            </a:r>
            <a:r>
              <a:rPr lang="en-US" sz="1500" err="1">
                <a:ea typeface="Roboto Mono"/>
              </a:rPr>
              <a:t>foco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implacável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na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usabilidade</a:t>
            </a:r>
            <a:r>
              <a:rPr lang="en-US" sz="1500" dirty="0">
                <a:ea typeface="Roboto Mono"/>
              </a:rPr>
              <a:t>, no </a:t>
            </a:r>
            <a:r>
              <a:rPr lang="en-US" sz="1500" err="1">
                <a:ea typeface="Roboto Mono"/>
              </a:rPr>
              <a:t>conforto</a:t>
            </a:r>
            <a:r>
              <a:rPr lang="en-US" sz="1500" dirty="0">
                <a:ea typeface="Roboto Mono"/>
              </a:rPr>
              <a:t> e </a:t>
            </a:r>
            <a:r>
              <a:rPr lang="en-US" sz="1500" err="1">
                <a:ea typeface="Roboto Mono"/>
              </a:rPr>
              <a:t>na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entrega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err="1">
                <a:ea typeface="Roboto Mono"/>
              </a:rPr>
              <a:t>uma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experiência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que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funcione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perfeitamente</a:t>
            </a:r>
            <a:r>
              <a:rPr lang="en-US" sz="1500" dirty="0">
                <a:ea typeface="Roboto Mono"/>
              </a:rPr>
              <a:t> logo </a:t>
            </a:r>
            <a:r>
              <a:rPr lang="en-US" sz="1500" err="1">
                <a:ea typeface="Roboto Mono"/>
              </a:rPr>
              <a:t>após</a:t>
            </a:r>
            <a:r>
              <a:rPr lang="en-US" sz="1500" dirty="0">
                <a:ea typeface="Roboto Mono"/>
              </a:rPr>
              <a:t> a </a:t>
            </a:r>
            <a:r>
              <a:rPr lang="en-US" sz="1500" err="1">
                <a:ea typeface="Roboto Mono"/>
              </a:rPr>
              <a:t>instalação</a:t>
            </a:r>
            <a:r>
              <a:rPr lang="en-US" sz="1500" dirty="0">
                <a:ea typeface="Roboto Mono"/>
              </a:rPr>
              <a:t> (o </a:t>
            </a:r>
            <a:r>
              <a:rPr lang="en-US" sz="1500" err="1">
                <a:ea typeface="Roboto Mono"/>
              </a:rPr>
              <a:t>conceito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i="1">
                <a:ea typeface="Roboto Mono"/>
              </a:rPr>
              <a:t>out-of-the-box</a:t>
            </a:r>
            <a:r>
              <a:rPr lang="en-US" sz="1500">
                <a:ea typeface="Roboto Mono"/>
              </a:rPr>
              <a:t>).</a:t>
            </a:r>
            <a:br>
              <a:rPr lang="en-US" sz="1500" dirty="0">
                <a:ea typeface="Roboto Mono"/>
              </a:rPr>
            </a:br>
            <a:endParaRPr lang="en-US" sz="1500" dirty="0">
              <a:ea typeface="Roboto Mono"/>
            </a:endParaRPr>
          </a:p>
          <a:p>
            <a:r>
              <a:rPr lang="en-US" sz="1500" err="1">
                <a:ea typeface="Roboto Mono"/>
              </a:rPr>
              <a:t>Diferente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err="1">
                <a:ea typeface="Roboto Mono"/>
              </a:rPr>
              <a:t>distribuições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voltadas</a:t>
            </a:r>
            <a:r>
              <a:rPr lang="en-US" sz="1500" dirty="0">
                <a:ea typeface="Roboto Mono"/>
              </a:rPr>
              <a:t> para </a:t>
            </a:r>
            <a:r>
              <a:rPr lang="en-US" sz="1500" err="1">
                <a:ea typeface="Roboto Mono"/>
              </a:rPr>
              <a:t>entusiastas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que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exigem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configurações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manuais</a:t>
            </a:r>
            <a:r>
              <a:rPr lang="en-US" sz="1500" dirty="0">
                <a:ea typeface="Roboto Mono"/>
              </a:rPr>
              <a:t> via </a:t>
            </a:r>
            <a:r>
              <a:rPr lang="en-US" sz="1500" err="1">
                <a:ea typeface="Roboto Mono"/>
              </a:rPr>
              <a:t>linha</a:t>
            </a:r>
            <a:r>
              <a:rPr lang="en-US" sz="1500" dirty="0">
                <a:ea typeface="Roboto Mono"/>
              </a:rPr>
              <a:t> de </a:t>
            </a:r>
            <a:r>
              <a:rPr lang="en-US" sz="1500" err="1">
                <a:ea typeface="Roboto Mono"/>
              </a:rPr>
              <a:t>comando</a:t>
            </a:r>
            <a:r>
              <a:rPr lang="en-US" sz="1500" dirty="0">
                <a:ea typeface="Roboto Mono"/>
              </a:rPr>
              <a:t>, o Mint é </a:t>
            </a:r>
            <a:r>
              <a:rPr lang="en-US" sz="1500" err="1">
                <a:ea typeface="Roboto Mono"/>
              </a:rPr>
              <a:t>projetado</a:t>
            </a:r>
            <a:r>
              <a:rPr lang="en-US" sz="1500" dirty="0">
                <a:ea typeface="Roboto Mono"/>
              </a:rPr>
              <a:t> para </a:t>
            </a:r>
            <a:r>
              <a:rPr lang="en-US" sz="1500" err="1">
                <a:ea typeface="Roboto Mono"/>
              </a:rPr>
              <a:t>que</a:t>
            </a:r>
            <a:r>
              <a:rPr lang="en-US" sz="1500" dirty="0">
                <a:ea typeface="Roboto Mono"/>
              </a:rPr>
              <a:t> o </a:t>
            </a:r>
            <a:r>
              <a:rPr lang="en-US" sz="1500" err="1">
                <a:ea typeface="Roboto Mono"/>
              </a:rPr>
              <a:t>usuário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comum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possa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ligar</a:t>
            </a:r>
            <a:r>
              <a:rPr lang="en-US" sz="1500" dirty="0">
                <a:ea typeface="Roboto Mono"/>
              </a:rPr>
              <a:t> o </a:t>
            </a:r>
            <a:r>
              <a:rPr lang="en-US" sz="1500" err="1">
                <a:ea typeface="Roboto Mono"/>
              </a:rPr>
              <a:t>computador</a:t>
            </a:r>
            <a:r>
              <a:rPr lang="en-US" sz="1500" dirty="0">
                <a:ea typeface="Roboto Mono"/>
              </a:rPr>
              <a:t> e </a:t>
            </a:r>
            <a:r>
              <a:rPr lang="en-US" sz="1500" err="1">
                <a:ea typeface="Roboto Mono"/>
              </a:rPr>
              <a:t>começar</a:t>
            </a:r>
            <a:r>
              <a:rPr lang="en-US" sz="1500" dirty="0">
                <a:ea typeface="Roboto Mono"/>
              </a:rPr>
              <a:t> a </a:t>
            </a:r>
            <a:r>
              <a:rPr lang="en-US" sz="1500" err="1">
                <a:ea typeface="Roboto Mono"/>
              </a:rPr>
              <a:t>trabalhar</a:t>
            </a:r>
            <a:r>
              <a:rPr lang="en-US" sz="1500" dirty="0">
                <a:ea typeface="Roboto Mono"/>
              </a:rPr>
              <a:t>, </a:t>
            </a:r>
            <a:r>
              <a:rPr lang="en-US" sz="1500" err="1">
                <a:ea typeface="Roboto Mono"/>
              </a:rPr>
              <a:t>navegar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na</a:t>
            </a:r>
            <a:r>
              <a:rPr lang="en-US" sz="1500" dirty="0">
                <a:ea typeface="Roboto Mono"/>
              </a:rPr>
              <a:t> internet </a:t>
            </a:r>
            <a:r>
              <a:rPr lang="en-US" sz="1500" err="1">
                <a:ea typeface="Roboto Mono"/>
              </a:rPr>
              <a:t>ou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consumir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mídia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imediatamente</a:t>
            </a:r>
            <a:r>
              <a:rPr lang="en-US" sz="1500" dirty="0">
                <a:ea typeface="Roboto Mono"/>
              </a:rPr>
              <a:t>, </a:t>
            </a:r>
            <a:r>
              <a:rPr lang="en-US" sz="1500" err="1">
                <a:ea typeface="Roboto Mono"/>
              </a:rPr>
              <a:t>sem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precisar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configurar</a:t>
            </a:r>
            <a:r>
              <a:rPr lang="en-US" sz="1500" dirty="0">
                <a:ea typeface="Roboto Mono"/>
              </a:rPr>
              <a:t> drivers </a:t>
            </a:r>
            <a:r>
              <a:rPr lang="en-US" sz="1500" err="1">
                <a:ea typeface="Roboto Mono"/>
              </a:rPr>
              <a:t>complexos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ou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instalar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pacotes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adicionais</a:t>
            </a:r>
            <a:r>
              <a:rPr lang="en-US" sz="1500" dirty="0">
                <a:ea typeface="Roboto Mono"/>
              </a:rPr>
              <a:t> para </a:t>
            </a:r>
            <a:r>
              <a:rPr lang="en-US" sz="1500" err="1">
                <a:ea typeface="Roboto Mono"/>
              </a:rPr>
              <a:t>tarefas</a:t>
            </a:r>
            <a:r>
              <a:rPr lang="en-US" sz="1500" dirty="0">
                <a:ea typeface="Roboto Mono"/>
              </a:rPr>
              <a:t> </a:t>
            </a:r>
            <a:r>
              <a:rPr lang="en-US" sz="1500" err="1">
                <a:ea typeface="Roboto Mono"/>
              </a:rPr>
              <a:t>básicas</a:t>
            </a:r>
            <a:r>
              <a:rPr lang="en-US" sz="1500" dirty="0">
                <a:ea typeface="Roboto Mono"/>
              </a:rPr>
              <a:t>.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Times New Roman"/>
                <a:cs typeface="Times New Roman"/>
              </a:rPr>
              <a:t>Histórico e </a:t>
            </a:r>
            <a:r>
              <a:rPr lang="en" dirty="0" err="1">
                <a:latin typeface="Times New Roman"/>
                <a:cs typeface="Times New Roman"/>
              </a:rPr>
              <a:t>Origem</a:t>
            </a:r>
            <a:endParaRPr lang="en-US" dirty="0" err="1">
              <a:latin typeface="Times New Roman"/>
              <a:cs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3F273-6E16-CA74-DC6B-C4296C78C34D}"/>
              </a:ext>
            </a:extLst>
          </p:cNvPr>
          <p:cNvSpPr txBox="1"/>
          <p:nvPr/>
        </p:nvSpPr>
        <p:spPr>
          <a:xfrm>
            <a:off x="344920" y="1427203"/>
            <a:ext cx="8451169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500" b="1"/>
              <a:t>A Criação:</a:t>
            </a:r>
            <a:r>
              <a:rPr lang="en-US" sz="1500"/>
              <a:t> O projeto foi fundado pelo desenvolvedor francês Clément Lefèbvre em 2006.</a:t>
            </a:r>
            <a:endParaRPr lang="en-US" sz="1500" dirty="0"/>
          </a:p>
          <a:p>
            <a:pPr marL="285750" indent="-285750">
              <a:buChar char="•"/>
            </a:pPr>
            <a:endParaRPr lang="en-US" sz="1500" dirty="0"/>
          </a:p>
          <a:p>
            <a:pPr marL="285750" indent="-285750">
              <a:buChar char="•"/>
            </a:pPr>
            <a:r>
              <a:rPr lang="en-US" sz="1500" b="1"/>
              <a:t>O Início (Versão 1.0 "Ada"):</a:t>
            </a:r>
            <a:r>
              <a:rPr lang="en-US" sz="1500"/>
              <a:t> Curiosamente, a primeira versão do Linux Mint não foi baseada no Ubuntu padrão, mas sim no Kubuntu (uma variação do Ubuntu com a interface KDE).</a:t>
            </a:r>
            <a:endParaRPr lang="en-US" sz="1500" dirty="0"/>
          </a:p>
          <a:p>
            <a:pPr marL="285750" indent="-285750">
              <a:buChar char="•"/>
            </a:pPr>
            <a:endParaRPr lang="en-US" sz="1500" dirty="0"/>
          </a:p>
          <a:p>
            <a:pPr marL="285750" indent="-285750">
              <a:buChar char="•"/>
            </a:pPr>
            <a:r>
              <a:rPr lang="en-US" sz="1500" b="1"/>
              <a:t>O Ponto de Virada:</a:t>
            </a:r>
            <a:r>
              <a:rPr lang="en-US" sz="1500"/>
              <a:t> A partir da versão 2.0 ("Barbara"), o Mint adotou o Ubuntu padrão como base e encontrou seu grande diferencial no mercado. Naquela época, por questões de licenciamento, o Ubuntu e outras distros se recusavam a incluir formatos proprietários nativamente. O Linux Mint decidiu contornar isso, incluindo suporte pré-instalado a MP3, reprodução de DVDs, Adobe Flash e drivers proprietários de placas de vídeo e rede Wi-Fi. Essa decisão pragmática atraiu milhões de usuários que estavam frustrados com as barreiras técnicas do Linux.</a:t>
            </a:r>
            <a:endParaRPr lang="en-US" sz="1500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14705" y="811040"/>
            <a:ext cx="8311980" cy="897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atin typeface="Times New Roman"/>
                <a:cs typeface="Times New Roman"/>
              </a:rPr>
              <a:t>Evolução e Derivações (As Interfaces Gráficas)</a:t>
            </a:r>
            <a:endParaRPr lang="pt-BR">
              <a:latin typeface="Times New Roman"/>
              <a:cs typeface="Times New Roman"/>
            </a:endParaRPr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14705" y="1497780"/>
            <a:ext cx="8414820" cy="3264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sz="1500" b="1">
                <a:latin typeface="Arial"/>
                <a:cs typeface="Arial"/>
              </a:rPr>
              <a:t>Edição Cinnamon (O Carro-Chefe):</a:t>
            </a:r>
            <a:r>
              <a:rPr lang="en" sz="1500">
                <a:latin typeface="Arial"/>
                <a:cs typeface="Arial"/>
              </a:rPr>
              <a:t> Desenvolvida do zero pela própria equipe do Linux Mint. O Cinnamon utiliza tecnologias modernas de renderização gráfica, mas preserva a metáfora clássica de uso: um botão de menu no canto inferior esquerdo, uma barra de tarefas para janelas abertas e uma bandeja do sistema (system tray). É rico em efeitos visuais e altamente personalizável.</a:t>
            </a:r>
            <a:br>
              <a:rPr lang="en" sz="1500" dirty="0">
                <a:latin typeface="Arial"/>
                <a:cs typeface="Arial"/>
              </a:rPr>
            </a:br>
            <a:endParaRPr lang="pt-BR" sz="1500">
              <a:latin typeface="Arial"/>
              <a:cs typeface="Arial"/>
            </a:endParaRPr>
          </a:p>
          <a:p>
            <a:pPr marL="285750" indent="-285750"/>
            <a:r>
              <a:rPr lang="en" sz="1500" b="1">
                <a:latin typeface="Arial"/>
                <a:cs typeface="Arial"/>
              </a:rPr>
              <a:t>Edição MATE:</a:t>
            </a:r>
            <a:r>
              <a:rPr lang="en" sz="1500">
                <a:latin typeface="Arial"/>
                <a:cs typeface="Arial"/>
              </a:rPr>
              <a:t> Quando o GNOME 3 foi lançado, uma comunidade de desenvolvedores decidiu continuar mantendo o código antigo do GNOME 2 vivo, criando o projeto MATE. O Mint adotou o MATE como uma alternativa mais leve e tradicional ao Cinnamon. É extremamente estável e consome menos recursos de hardware.</a:t>
            </a:r>
            <a:br>
              <a:rPr lang="en" sz="1500" dirty="0">
                <a:latin typeface="Arial"/>
                <a:cs typeface="Arial"/>
              </a:rPr>
            </a:br>
            <a:endParaRPr lang="en"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460E717-CC0B-7983-8033-8C7841FF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>
            <a:extLst>
              <a:ext uri="{FF2B5EF4-FFF2-40B4-BE49-F238E27FC236}">
                <a16:creationId xmlns:a16="http://schemas.microsoft.com/office/drawing/2014/main" id="{8F0A7398-6EC8-359F-753B-BA3C7AF87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705" y="811040"/>
            <a:ext cx="8311980" cy="897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atin typeface="Times New Roman"/>
                <a:cs typeface="Times New Roman"/>
              </a:rPr>
              <a:t>Evolução e Derivações (As Interfaces Gráficas)</a:t>
            </a:r>
            <a:endParaRPr lang="pt-BR">
              <a:latin typeface="Times New Roman"/>
              <a:cs typeface="Times New Roman"/>
            </a:endParaRPr>
          </a:p>
        </p:txBody>
      </p:sp>
      <p:sp>
        <p:nvSpPr>
          <p:cNvPr id="251" name="Google Shape;251;p31">
            <a:extLst>
              <a:ext uri="{FF2B5EF4-FFF2-40B4-BE49-F238E27FC236}">
                <a16:creationId xmlns:a16="http://schemas.microsoft.com/office/drawing/2014/main" id="{968BCD21-CA9F-8CE7-694A-D2EF438E2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4705" y="1497780"/>
            <a:ext cx="8414820" cy="3264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sz="1500" b="1">
                <a:latin typeface="Arial"/>
                <a:cs typeface="Arial"/>
              </a:rPr>
              <a:t>Edição XFCE:</a:t>
            </a:r>
            <a:r>
              <a:rPr lang="en" sz="1500">
                <a:latin typeface="Arial"/>
                <a:cs typeface="Arial"/>
              </a:rPr>
              <a:t> A edição oficial mais leve. O XFCE é um ambiente gráfico de terceiros focado em máxima eficiência e mínimo consumo de memória RAM e processamento, ideal para computadores mais antigos.</a:t>
            </a:r>
            <a:br>
              <a:rPr lang="en" sz="1500" dirty="0">
                <a:latin typeface="Arial"/>
                <a:cs typeface="Arial"/>
              </a:rPr>
            </a:br>
            <a:endParaRPr lang="en-US" sz="1500">
              <a:latin typeface="Arial"/>
              <a:cs typeface="Arial"/>
            </a:endParaRPr>
          </a:p>
          <a:p>
            <a:pPr marL="285750" indent="-285750"/>
            <a:r>
              <a:rPr lang="en" sz="1500" b="1">
                <a:latin typeface="Arial"/>
                <a:cs typeface="Arial"/>
              </a:rPr>
              <a:t>LMDE (Linux Mint Debian Edition):</a:t>
            </a:r>
            <a:r>
              <a:rPr lang="en" sz="1500">
                <a:latin typeface="Arial"/>
                <a:cs typeface="Arial"/>
              </a:rPr>
              <a:t> Esta não é apenas uma interface, mas uma base diferente. Enquanto o Mint tradicional é baseado no Ubuntu, o LMDE é baseado diretamente no Debian. Ele foi criado como uma "prova de conceito" e um plano de contingência para garantir que o Linux Mint continue existindo mesmo que o Ubuntu deixe de ser uma base viável no futuro.</a:t>
            </a:r>
            <a:endParaRPr lang="en-US" sz="1500">
              <a:latin typeface="Arial"/>
              <a:cs typeface="Arial"/>
            </a:endParaRPr>
          </a:p>
          <a:p>
            <a:pPr marL="0" indent="0">
              <a:buNone/>
            </a:pPr>
            <a:br>
              <a:rPr lang="en" dirty="0"/>
            </a:br>
            <a:endParaRPr/>
          </a:p>
        </p:txBody>
      </p:sp>
    </p:spTree>
    <p:extLst>
      <p:ext uri="{BB962C8B-B14F-4D97-AF65-F5344CB8AC3E}">
        <p14:creationId xmlns:p14="http://schemas.microsoft.com/office/powerpoint/2010/main" val="57641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>
            <a:spLocks noGrp="1"/>
          </p:cNvSpPr>
          <p:nvPr>
            <p:ph type="title"/>
          </p:nvPr>
        </p:nvSpPr>
        <p:spPr>
          <a:xfrm>
            <a:off x="315544" y="646234"/>
            <a:ext cx="8519742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000">
                <a:latin typeface="Times New Roman"/>
                <a:cs typeface="Times New Roman"/>
              </a:rPr>
              <a:t>Principais Características e Ferramentas (Mint </a:t>
            </a:r>
            <a:r>
              <a:rPr lang="en" sz="3000" dirty="0">
                <a:latin typeface="Times New Roman"/>
                <a:cs typeface="Times New Roman"/>
              </a:rPr>
              <a:t>Tools)</a:t>
            </a:r>
            <a:endParaRPr lang="pt-BR" sz="3000">
              <a:latin typeface="Times New Roman"/>
              <a:cs typeface="Times New Roman"/>
            </a:endParaRPr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1"/>
          </p:nvPr>
        </p:nvSpPr>
        <p:spPr>
          <a:xfrm>
            <a:off x="313052" y="1208340"/>
            <a:ext cx="8514344" cy="3392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b="1">
                <a:latin typeface="Arial"/>
                <a:cs typeface="Arial"/>
              </a:rPr>
              <a:t>Gerenciador de Aplicativos (MintInstall):</a:t>
            </a:r>
            <a:r>
              <a:rPr lang="en">
                <a:latin typeface="Arial"/>
                <a:cs typeface="Arial"/>
              </a:rPr>
              <a:t> Uma "loja de aplicativos" rápida e intuitiva. Uma característica marcante do Mint é a sua </a:t>
            </a:r>
            <a:r>
              <a:rPr lang="en" b="1">
                <a:latin typeface="Arial"/>
                <a:cs typeface="Arial"/>
              </a:rPr>
              <a:t>rejeição oficial ao formato de pacotes Snap</a:t>
            </a:r>
            <a:r>
              <a:rPr lang="en" dirty="0">
                <a:latin typeface="Arial"/>
                <a:cs typeface="Arial"/>
              </a:rPr>
              <a:t> </a:t>
            </a:r>
            <a:r>
              <a:rPr lang="en">
                <a:latin typeface="Arial"/>
                <a:cs typeface="Arial"/>
              </a:rPr>
              <a:t>(desenvolvido pela Canonical/Ubuntu), bloqueando-o por padrão em prol do formato concorrente </a:t>
            </a:r>
            <a:r>
              <a:rPr lang="en" b="1">
                <a:latin typeface="Arial"/>
                <a:cs typeface="Arial"/>
              </a:rPr>
              <a:t>Flatpak</a:t>
            </a:r>
            <a:r>
              <a:rPr lang="en">
                <a:latin typeface="Arial"/>
                <a:cs typeface="Arial"/>
              </a:rPr>
              <a:t>, que já vem ativado nativamente.</a:t>
            </a:r>
            <a:endParaRPr lang="pt-BR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b="1">
                <a:latin typeface="Arial"/>
                <a:cs typeface="Arial"/>
              </a:rPr>
              <a:t>Gerenciador de Atualizações (MintUpdate):</a:t>
            </a:r>
            <a:r>
              <a:rPr lang="en">
                <a:latin typeface="Arial"/>
                <a:cs typeface="Arial"/>
              </a:rPr>
              <a:t> Uma ferramenta segura que classifica as atualizações do sistema e dos aplicativos. Ele nunca obriga o usuário a reiniciar o computador durante o trabalho (como ocorre no Windows Update).</a:t>
            </a: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b="1">
                <a:latin typeface="Arial"/>
                <a:cs typeface="Arial"/>
              </a:rPr>
              <a:t>Timeshift:</a:t>
            </a:r>
            <a:r>
              <a:rPr lang="en">
                <a:latin typeface="Arial"/>
                <a:cs typeface="Arial"/>
              </a:rPr>
              <a:t> Uma poderosa ferramenta de backup do sistema integrado. Ele tira "fotografias" (snapshots) do sistema operacional. Se uma atualização ou alteração quebrar o sistema, o usuário pode reverter o computador para o estado exato do dia anterior, como uma máquina do tempo.</a:t>
            </a: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" b="1">
                <a:latin typeface="Arial"/>
                <a:cs typeface="Arial"/>
              </a:rPr>
              <a:t>X-Apps:</a:t>
            </a:r>
            <a:r>
              <a:rPr lang="en">
                <a:latin typeface="Arial"/>
                <a:cs typeface="Arial"/>
              </a:rPr>
              <a:t> Um conjunto de aplicativos padrão (como o editor de texto </a:t>
            </a:r>
            <a:r>
              <a:rPr lang="en" i="1">
                <a:latin typeface="Arial"/>
                <a:cs typeface="Arial"/>
              </a:rPr>
              <a:t>Xed</a:t>
            </a:r>
            <a:r>
              <a:rPr lang="en">
                <a:latin typeface="Arial"/>
                <a:cs typeface="Arial"/>
              </a:rPr>
              <a:t>, o leitor de PDF </a:t>
            </a:r>
            <a:r>
              <a:rPr lang="en" i="1">
                <a:latin typeface="Arial"/>
                <a:cs typeface="Arial"/>
              </a:rPr>
              <a:t>Xreader</a:t>
            </a:r>
            <a:r>
              <a:rPr lang="en">
                <a:latin typeface="Arial"/>
                <a:cs typeface="Arial"/>
              </a:rPr>
              <a:t> e o reprodutor de mídia </a:t>
            </a:r>
            <a:r>
              <a:rPr lang="en" i="1">
                <a:latin typeface="Arial"/>
                <a:cs typeface="Arial"/>
              </a:rPr>
              <a:t>Xplayer</a:t>
            </a:r>
            <a:r>
              <a:rPr lang="en">
                <a:latin typeface="Arial"/>
                <a:cs typeface="Arial"/>
              </a:rPr>
              <a:t>) desenvolvidos para funcionarem com o mesmo design visual e eficiência em qualquer uma das interfaces (Cinnamon, MATE ou XFCE).</a:t>
            </a:r>
            <a:endParaRPr lang="en" dirty="0">
              <a:latin typeface="Arial"/>
              <a:cs typeface="Arial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atin typeface="Times New Roman"/>
                <a:cs typeface="Times New Roman"/>
              </a:rPr>
              <a:t>Principais Aplicações e Casos de Uso</a:t>
            </a:r>
            <a:endParaRPr lang="pt-BR">
              <a:latin typeface="Times New Roman"/>
              <a:cs typeface="Times New Roman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E92E3F-424F-D2EF-6C5B-2EF2B304D278}"/>
              </a:ext>
            </a:extLst>
          </p:cNvPr>
          <p:cNvSpPr txBox="1"/>
          <p:nvPr/>
        </p:nvSpPr>
        <p:spPr>
          <a:xfrm>
            <a:off x="341416" y="1284019"/>
            <a:ext cx="8283038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pt-BR" b="1"/>
              <a:t>Porta de Entrada e Transição:</a:t>
            </a:r>
            <a:r>
              <a:rPr lang="pt-BR"/>
              <a:t> É considerado mundialmente o melhor sistema para usuários que estão migrando do Microsoft Windows, pois a curva de aprendizado da interface Cinnamon é praticamente nula.</a:t>
            </a:r>
          </a:p>
          <a:p>
            <a:pPr marL="285750" indent="-285750">
              <a:buChar char="•"/>
            </a:pPr>
            <a:endParaRPr lang="pt-BR" dirty="0"/>
          </a:p>
          <a:p>
            <a:pPr marL="285750" indent="-285750">
              <a:buChar char="•"/>
            </a:pPr>
            <a:r>
              <a:rPr lang="pt-BR" b="1"/>
              <a:t>Ambiente de Desenvolvimento de Software:</a:t>
            </a:r>
            <a:r>
              <a:rPr lang="pt-BR"/>
              <a:t> Devido à sua base Ubuntu, o Mint é excepcionalmente amigável para programadores e analistas de sistemas. Ferramentas, bancos de dados, contêineres (como Docker) e IDEs funcionam de forma nativa e estável, tornando-o popular em cursos de tecnologia e universidades.</a:t>
            </a:r>
          </a:p>
          <a:p>
            <a:pPr marL="285750" indent="-285750">
              <a:buChar char="•"/>
            </a:pPr>
            <a:endParaRPr lang="pt-BR" dirty="0"/>
          </a:p>
          <a:p>
            <a:pPr marL="285750" indent="-285750">
              <a:buChar char="•"/>
            </a:pPr>
            <a:r>
              <a:rPr lang="pt-BR" b="1"/>
              <a:t>Sobrevivência de Hardware Antigo (Green Computing):</a:t>
            </a:r>
            <a:r>
              <a:rPr lang="pt-BR"/>
              <a:t> Utilizando a edição XFCE, instituições e usuários comuns conseguem reaproveitar computadores de 10 a 15 anos de idade com desempenho satisfatório e segurança atualizada.</a:t>
            </a:r>
          </a:p>
          <a:p>
            <a:pPr marL="285750" indent="-285750">
              <a:buChar char="•"/>
            </a:pPr>
            <a:endParaRPr lang="pt-BR" dirty="0"/>
          </a:p>
          <a:p>
            <a:pPr marL="285750" indent="-285750">
              <a:buChar char="•"/>
            </a:pPr>
            <a:r>
              <a:rPr lang="pt-BR" b="1"/>
              <a:t>Ambientes Corporativos Básicos:</a:t>
            </a:r>
            <a:r>
              <a:rPr lang="pt-BR"/>
              <a:t> Muito utilizado em escritórios e call centers devido à imunidade à maioria dos vírus de Windows e à gratuidade de suas licenças.</a:t>
            </a:r>
          </a:p>
          <a:p>
            <a:pPr algn="l"/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 idx="6"/>
          </p:nvPr>
        </p:nvSpPr>
        <p:spPr>
          <a:xfrm>
            <a:off x="341850" y="654800"/>
            <a:ext cx="82497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atin typeface="Times New Roman"/>
                <a:cs typeface="Times New Roman"/>
              </a:rPr>
              <a:t>Vantagens</a:t>
            </a:r>
            <a:endParaRPr lang="pt-BR">
              <a:latin typeface="Times New Roman"/>
              <a:cs typeface="Times New Roman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04F1EF4-6CBE-8FE3-3E61-AC5F9AC6D154}"/>
              </a:ext>
            </a:extLst>
          </p:cNvPr>
          <p:cNvSpPr txBox="1"/>
          <p:nvPr/>
        </p:nvSpPr>
        <p:spPr>
          <a:xfrm>
            <a:off x="252350" y="1284019"/>
            <a:ext cx="8438902" cy="3062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b="1" dirty="0"/>
          </a:p>
          <a:p>
            <a:pPr marL="285750" indent="-285750">
              <a:buChar char="•"/>
            </a:pPr>
            <a:r>
              <a:rPr lang="pt-BR" sz="1500" b="1"/>
              <a:t>Estabilidade e Confiabilidade:</a:t>
            </a:r>
            <a:r>
              <a:rPr lang="pt-BR" sz="1500"/>
              <a:t> Como é baseado nas versões "LTS" (Long Term Support) do Ubuntu, o sistema base muda pouco ao longo de anos, garantindo que as coisas continuem funcionando sem falhas repentinas.</a:t>
            </a:r>
            <a:br>
              <a:rPr lang="pt-BR" sz="1500" dirty="0"/>
            </a:br>
            <a:endParaRPr lang="pt-BR" sz="1500"/>
          </a:p>
          <a:p>
            <a:pPr marL="285750" indent="-285750">
              <a:buChar char="•"/>
            </a:pPr>
            <a:r>
              <a:rPr lang="pt-BR" sz="1500" b="1"/>
              <a:t>Respeito à Privacidade:</a:t>
            </a:r>
            <a:r>
              <a:rPr lang="pt-BR" sz="1500"/>
              <a:t> O Linux Mint não possui telemetria oculta, não rastreia os hábitos de navegação do usuário e não exibe anúncios integrados no sistema.</a:t>
            </a:r>
            <a:br>
              <a:rPr lang="pt-BR" sz="1500" dirty="0"/>
            </a:br>
            <a:endParaRPr lang="pt-BR" sz="1500"/>
          </a:p>
          <a:p>
            <a:pPr marL="285750" indent="-285750">
              <a:buChar char="•"/>
            </a:pPr>
            <a:r>
              <a:rPr lang="pt-BR" sz="1500" b="1"/>
              <a:t>Custo e Liberdade:</a:t>
            </a:r>
            <a:r>
              <a:rPr lang="pt-BR" sz="1500"/>
              <a:t> É 100% gratuito e de código aberto.</a:t>
            </a:r>
            <a:br>
              <a:rPr lang="pt-BR" sz="1500" dirty="0"/>
            </a:br>
            <a:endParaRPr lang="pt-BR" sz="1500"/>
          </a:p>
          <a:p>
            <a:pPr marL="285750" indent="-285750">
              <a:buChar char="•"/>
            </a:pPr>
            <a:r>
              <a:rPr lang="pt-BR" sz="1500" b="1"/>
              <a:t>Comunidade Ativa:</a:t>
            </a:r>
            <a:r>
              <a:rPr lang="pt-BR" sz="1500"/>
              <a:t> Possui fóruns extensos e, como é compatível com o Ubuntu, 99% dos tutoriais de Ubuntu na internet funcionam perfeitamente no Mint.</a:t>
            </a:r>
          </a:p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atin typeface="Times New Roman"/>
                <a:cs typeface="Times New Roman"/>
              </a:rPr>
              <a:t>Limitações</a:t>
            </a:r>
            <a:endParaRPr lang="en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50B2FC2-7328-AD6B-3E0B-7C4C66A77789}"/>
              </a:ext>
            </a:extLst>
          </p:cNvPr>
          <p:cNvSpPr txBox="1"/>
          <p:nvPr/>
        </p:nvSpPr>
        <p:spPr>
          <a:xfrm>
            <a:off x="348837" y="1432461"/>
            <a:ext cx="8305305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pt-BR" sz="1500" b="1"/>
              <a:t>Não é voltado para Servidores:</a:t>
            </a:r>
            <a:r>
              <a:rPr lang="pt-BR" sz="1500"/>
              <a:t> A equipe foca 100% na experiência de Desktop (computador pessoal). Não há uma versão "Linux Mint Server".</a:t>
            </a:r>
            <a:br>
              <a:rPr lang="pt-BR" sz="1500" dirty="0"/>
            </a:br>
            <a:endParaRPr lang="en-US" sz="1500">
              <a:solidFill>
                <a:srgbClr val="191919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500" b="1"/>
              <a:t>Softwares menos recentes (Software Stagnation):</a:t>
            </a:r>
            <a:r>
              <a:rPr lang="pt-BR" sz="1500"/>
              <a:t> O foco em estabilidade LTS significa que o sistema demora anos para receber as versões mais novas do núcleo do sistema (Kernel) e de alguns pacotes de base, o que pode atrasar o suporte a placas de vídeo recém-lançadas no mercado.</a:t>
            </a:r>
            <a:br>
              <a:rPr lang="pt-BR" sz="1500" dirty="0"/>
            </a:br>
            <a:endParaRPr lang="en-US" sz="1500">
              <a:solidFill>
                <a:srgbClr val="191919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500" b="1"/>
              <a:t>Adoção Tecnológica Lenta:</a:t>
            </a:r>
            <a:r>
              <a:rPr lang="pt-BR" sz="1500"/>
              <a:t> A equipe de desenvolvimento é conservadora. Por exemplo, a transição para o protocolo de vídeo moderno (Wayland), que já é padrão em outros sistemas, tem ocorrido de forma muito cautelosa e lenta no Mint.</a:t>
            </a:r>
            <a:endParaRPr lang="en-US" sz="1500">
              <a:solidFill>
                <a:srgbClr val="191919"/>
              </a:solidFill>
            </a:endParaRPr>
          </a:p>
          <a:p>
            <a:endParaRPr lang="pt-BR" sz="1500" dirty="0">
              <a:solidFill>
                <a:srgbClr val="191919"/>
              </a:solidFill>
            </a:endParaRPr>
          </a:p>
          <a:p>
            <a:pPr algn="l"/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atin typeface="Times New Roman"/>
                <a:cs typeface="Times New Roman"/>
              </a:rPr>
              <a:t>Situação Atual e Evolução</a:t>
            </a:r>
            <a:endParaRPr lang="pt-BR">
              <a:latin typeface="Times New Roman"/>
              <a:cs typeface="Times New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4D8BDC-3CBA-6EA2-6772-8D5E9DAAFB51}"/>
              </a:ext>
            </a:extLst>
          </p:cNvPr>
          <p:cNvSpPr txBox="1"/>
          <p:nvPr/>
        </p:nvSpPr>
        <p:spPr>
          <a:xfrm>
            <a:off x="267194" y="1432461"/>
            <a:ext cx="850570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/>
              <a:t>Atualmente (2026), o sistema encontra-se na série </a:t>
            </a:r>
            <a:r>
              <a:rPr lang="pt-BR" sz="1500" b="1"/>
              <a:t>22.x</a:t>
            </a:r>
            <a:r>
              <a:rPr lang="pt-BR" sz="1500"/>
              <a:t>, solidificando sua base moderna no Ubuntu 24.04 LTS. A comunidade e a equipe de desenvolvimento estão ativamente preparando a próxima grande geração, o </a:t>
            </a:r>
            <a:r>
              <a:rPr lang="pt-BR" sz="1500" b="1"/>
              <a:t>Linux Mint 23</a:t>
            </a:r>
            <a:r>
              <a:rPr lang="pt-BR" sz="1500"/>
              <a:t>, com lançamento planejado para o final de 2026. Esta evolução marcará uma nova era técnica para o sistema, com a maturação final do suporte ao Wayland na interface Cinnamon e a reformulação completa do instalador do sistema, garantindo a relevância da distribuição para a próxima década.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B2F212A8-C7F4-46E6-DC30-14617C26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 descr="nature-landscape-with-vegetation-flora.jpg" title="nature-landscape-with-vegetation-flora.jpg">
            <a:extLst>
              <a:ext uri="{FF2B5EF4-FFF2-40B4-BE49-F238E27FC236}">
                <a16:creationId xmlns:a16="http://schemas.microsoft.com/office/drawing/2014/main" id="{D05891A5-6D77-214F-15F9-8E1EBF62FED2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1728" r="11728"/>
          <a:stretch/>
        </p:blipFill>
        <p:spPr>
          <a:xfrm>
            <a:off x="5813313" y="1340888"/>
            <a:ext cx="2823739" cy="26482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9F369A52-F81E-EE29-9421-633CFE0BA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385" y="1740249"/>
            <a:ext cx="5402115" cy="1571751"/>
          </a:xfrm>
        </p:spPr>
        <p:txBody>
          <a:bodyPr/>
          <a:lstStyle/>
          <a:p>
            <a:r>
              <a:rPr lang="pt-BR" sz="4000">
                <a:latin typeface="Times New Roman"/>
                <a:cs typeface="Times New Roman"/>
              </a:rPr>
              <a:t>Obrigado pelo seu tempo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3232407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11</Slides>
  <Notes>11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My Presentation Template</vt:lpstr>
      <vt:lpstr>Slidesgo Final Pages</vt:lpstr>
      <vt:lpstr> Apresentação sobre o Linux Mint</vt:lpstr>
      <vt:lpstr>Introdução e Filosofia do Sistema</vt:lpstr>
      <vt:lpstr>Histórico e Origem</vt:lpstr>
      <vt:lpstr>Evolução e Derivações (As Interfaces Gráficas)</vt:lpstr>
      <vt:lpstr>Evolução e Derivações (As Interfaces Gráficas)</vt:lpstr>
      <vt:lpstr>Principais Características e Ferramentas (Mint Tools)</vt:lpstr>
      <vt:lpstr>Principais Aplicações e Casos de Uso</vt:lpstr>
      <vt:lpstr>Vantagens</vt:lpstr>
      <vt:lpstr>Limitações </vt:lpstr>
      <vt:lpstr>Situação Atual e Evolução</vt:lpstr>
      <vt:lpstr>Obrigado pelo seu tempo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197</cp:revision>
  <dcterms:modified xsi:type="dcterms:W3CDTF">2026-09-13T20:30:21Z</dcterms:modified>
</cp:coreProperties>
</file>