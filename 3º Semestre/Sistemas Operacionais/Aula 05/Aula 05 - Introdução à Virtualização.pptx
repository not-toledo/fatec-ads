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embeddedFontLst>
    <p:embeddedFont>
      <p:font typeface="Raleway"/>
      <p:regular r:id="rId26"/>
      <p:bold r:id="rId27"/>
      <p:italic r:id="rId28"/>
      <p:boldItalic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Inter Light"/>
      <p:regular r:id="rId34"/>
      <p:bold r:id="rId35"/>
      <p:italic r:id="rId36"/>
      <p:boldItalic r:id="rId37"/>
    </p:embeddedFont>
    <p:embeddedFont>
      <p:font typeface="Lato"/>
      <p:regular r:id="rId38"/>
      <p:bold r:id="rId39"/>
      <p:italic r:id="rId40"/>
      <p:boldItalic r:id="rId41"/>
    </p:embeddedFont>
    <p:embeddedFont>
      <p:font typeface="Inter"/>
      <p:bold r:id="rId42"/>
      <p:boldItalic r:id="rId43"/>
    </p:embeddedFont>
    <p:embeddedFont>
      <p:font typeface="Corbel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italic.fntdata"/><Relationship Id="rId20" Type="http://schemas.openxmlformats.org/officeDocument/2006/relationships/slide" Target="slides/slide16.xml"/><Relationship Id="rId42" Type="http://schemas.openxmlformats.org/officeDocument/2006/relationships/font" Target="fonts/Inter-bold.fntdata"/><Relationship Id="rId41" Type="http://schemas.openxmlformats.org/officeDocument/2006/relationships/font" Target="fonts/Lato-boldItalic.fntdata"/><Relationship Id="rId22" Type="http://schemas.openxmlformats.org/officeDocument/2006/relationships/slide" Target="slides/slide18.xml"/><Relationship Id="rId44" Type="http://schemas.openxmlformats.org/officeDocument/2006/relationships/font" Target="fonts/Corbel-regular.fntdata"/><Relationship Id="rId21" Type="http://schemas.openxmlformats.org/officeDocument/2006/relationships/slide" Target="slides/slide17.xml"/><Relationship Id="rId43" Type="http://schemas.openxmlformats.org/officeDocument/2006/relationships/font" Target="fonts/Inter-boldItalic.fntdata"/><Relationship Id="rId24" Type="http://schemas.openxmlformats.org/officeDocument/2006/relationships/slide" Target="slides/slide20.xml"/><Relationship Id="rId46" Type="http://schemas.openxmlformats.org/officeDocument/2006/relationships/font" Target="fonts/Corbel-italic.fntdata"/><Relationship Id="rId23" Type="http://schemas.openxmlformats.org/officeDocument/2006/relationships/slide" Target="slides/slide19.xml"/><Relationship Id="rId45" Type="http://schemas.openxmlformats.org/officeDocument/2006/relationships/font" Target="fonts/Corbel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aleway-regular.fntdata"/><Relationship Id="rId25" Type="http://schemas.openxmlformats.org/officeDocument/2006/relationships/slide" Target="slides/slide21.xml"/><Relationship Id="rId47" Type="http://schemas.openxmlformats.org/officeDocument/2006/relationships/font" Target="fonts/Corbel-boldItalic.fntdata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aleway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7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6.xml"/><Relationship Id="rId32" Type="http://schemas.openxmlformats.org/officeDocument/2006/relationships/font" Target="fonts/Roboto-italic.fntdata"/><Relationship Id="rId13" Type="http://schemas.openxmlformats.org/officeDocument/2006/relationships/slide" Target="slides/slide9.xml"/><Relationship Id="rId35" Type="http://schemas.openxmlformats.org/officeDocument/2006/relationships/font" Target="fonts/InterLight-bold.fntdata"/><Relationship Id="rId12" Type="http://schemas.openxmlformats.org/officeDocument/2006/relationships/slide" Target="slides/slide8.xml"/><Relationship Id="rId34" Type="http://schemas.openxmlformats.org/officeDocument/2006/relationships/font" Target="fonts/InterLight-regular.fntdata"/><Relationship Id="rId15" Type="http://schemas.openxmlformats.org/officeDocument/2006/relationships/slide" Target="slides/slide11.xml"/><Relationship Id="rId37" Type="http://schemas.openxmlformats.org/officeDocument/2006/relationships/font" Target="fonts/InterLight-boldItalic.fntdata"/><Relationship Id="rId14" Type="http://schemas.openxmlformats.org/officeDocument/2006/relationships/slide" Target="slides/slide10.xml"/><Relationship Id="rId36" Type="http://schemas.openxmlformats.org/officeDocument/2006/relationships/font" Target="fonts/InterLight-italic.fntdata"/><Relationship Id="rId17" Type="http://schemas.openxmlformats.org/officeDocument/2006/relationships/slide" Target="slides/slide13.xml"/><Relationship Id="rId39" Type="http://schemas.openxmlformats.org/officeDocument/2006/relationships/font" Target="fonts/Lato-bold.fntdata"/><Relationship Id="rId16" Type="http://schemas.openxmlformats.org/officeDocument/2006/relationships/slide" Target="slides/slide12.xml"/><Relationship Id="rId38" Type="http://schemas.openxmlformats.org/officeDocument/2006/relationships/font" Target="fonts/Lato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c35b607eaf_0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3c35b607eaf_0_27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g3c35b607eaf_0_2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c35701d7d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c35701d7d6_0_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c35701d7d6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cfda38b38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cfda38b384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cfda38b38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fda38b384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fda38b384_0_1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cfda38b384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fda38b384_0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fda38b384_0_14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cfda38b384_0_1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89ae627a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89ae627a8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f89ae627a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fda38b384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fda38b384_0_2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cfda38b384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fda38b384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fda38b384_0_4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cfda38b384_0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fda38b384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fda38b384_0_5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cfda38b384_0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fda38b384_0_1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fda38b384_0_16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cfda38b384_0_1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fda38b384_0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fda38b384_0_15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cfda38b384_0_1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fda38b384_0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cfda38b384_0_10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cfda38b384_0_1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fda38b384_0_1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fda38b384_0_12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cfda38b384_0_1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cfda38b384_0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cfda38b384_0_16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cfda38b384_0_1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fda38b384_0_1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cfda38b384_0_17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cfda38b384_0_1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9b8769f4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f9b8769f44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f9b8769f4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9b8769f44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9b8769f44_0_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g3f9b8769f44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9b8769f44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f9b8769f44_0_1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f9b8769f44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c265b9f91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cc265b9f9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c35701d7d6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c35701d7d6_0_8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c35701d7d6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bc0292c21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cbc0292c21_0_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cbc0292c21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7" name="Google Shape;17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" name="Google Shape;19;p2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42526"/>
              </a:buClr>
              <a:buSzPts val="5300"/>
              <a:buFont typeface="Roboto"/>
              <a:buNone/>
              <a:defRPr sz="5300">
                <a:solidFill>
                  <a:srgbClr val="B4252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303"/>
              </a:buClr>
              <a:buSzPts val="2900"/>
              <a:buFont typeface="Roboto"/>
              <a:buNone/>
              <a:defRPr sz="2900">
                <a:solidFill>
                  <a:srgbClr val="B0030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107200" y="1405133"/>
            <a:ext cx="994500" cy="32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</p:txBody>
      </p:sp>
      <p:pic>
        <p:nvPicPr>
          <p:cNvPr id="23" name="Google Shape;23;p2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551384" y="1556792"/>
            <a:ext cx="11089200" cy="4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■"/>
              <a:defRPr sz="3200"/>
            </a:lvl6pPr>
            <a:lvl7pPr indent="-4318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●"/>
              <a:defRPr sz="3200"/>
            </a:lvl7pPr>
            <a:lvl8pPr indent="-4318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○"/>
              <a:defRPr sz="3200"/>
            </a:lvl8pPr>
            <a:lvl9pPr indent="-431800" lvl="8" marL="411480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rgbClr val="272F6D"/>
              </a:buClr>
              <a:buSzPts val="3200"/>
              <a:buChar char="■"/>
              <a:defRPr sz="32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0" name="Google Shape;30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algn="just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088233" y="1567800"/>
            <a:ext cx="1143600" cy="2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77311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865613"/>
            <a:ext cx="11360700" cy="4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hyperlink" Target="http://tinycorelinux.net/downloads.html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istro.ibiblio.org/tinycorelinux/downloads.html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>
                <a:solidFill>
                  <a:srgbClr val="202529"/>
                </a:solidFill>
              </a:rPr>
              <a:t>Introdução à Virtualização</a:t>
            </a:r>
            <a:endParaRPr sz="4500">
              <a:solidFill>
                <a:srgbClr val="202529"/>
              </a:solidFill>
            </a:endParaRPr>
          </a:p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Sumário</a:t>
            </a:r>
            <a:endParaRPr b="1"/>
          </a:p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Definição de Virtualização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Vantagens da Virtualização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Conceito de Máquina Virtual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O que é Oracle VirtualBox?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Criando uma Máquina Virtual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Atividade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Definição de Virtualização</a:t>
            </a:r>
            <a:endParaRPr/>
          </a:p>
        </p:txBody>
      </p:sp>
      <p:pic>
        <p:nvPicPr>
          <p:cNvPr descr="preencoded.png" id="57" name="Google Shape;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6426" y="2097378"/>
            <a:ext cx="7288782" cy="406812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/>
          <p:nvPr/>
        </p:nvSpPr>
        <p:spPr>
          <a:xfrm>
            <a:off x="8106185" y="1751325"/>
            <a:ext cx="2276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83"/>
              <a:buFont typeface="Inter"/>
              <a:buNone/>
            </a:pPr>
            <a:r>
              <a:rPr b="1" i="0" lang="pt-BR" sz="1783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Definição</a:t>
            </a:r>
            <a:endParaRPr b="0" i="0" sz="1783" u="none" cap="none" strike="noStrike"/>
          </a:p>
        </p:txBody>
      </p:sp>
      <p:sp>
        <p:nvSpPr>
          <p:cNvPr id="59" name="Google Shape;59;p7"/>
          <p:cNvSpPr/>
          <p:nvPr/>
        </p:nvSpPr>
        <p:spPr>
          <a:xfrm>
            <a:off x="8106185" y="2203961"/>
            <a:ext cx="37194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92"/>
              <a:buFont typeface="Inter"/>
              <a:buNone/>
            </a:pPr>
            <a:r>
              <a:rPr b="0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 virtualização é uma </a:t>
            </a:r>
            <a:r>
              <a:rPr b="1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tecnologia que permite executar vários sistemas operacionais simultaneamente</a:t>
            </a:r>
            <a:r>
              <a:rPr b="0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em um único computador físico.</a:t>
            </a:r>
            <a:endParaRPr b="0" i="0" sz="1392" u="none" cap="none" strike="noStrike"/>
          </a:p>
        </p:txBody>
      </p:sp>
      <p:sp>
        <p:nvSpPr>
          <p:cNvPr id="60" name="Google Shape;60;p7"/>
          <p:cNvSpPr/>
          <p:nvPr/>
        </p:nvSpPr>
        <p:spPr>
          <a:xfrm>
            <a:off x="8106185" y="3493195"/>
            <a:ext cx="2276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83"/>
              <a:buFont typeface="Inter"/>
              <a:buNone/>
            </a:pPr>
            <a:r>
              <a:rPr b="1" i="0" lang="pt-BR" sz="1783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Princípio</a:t>
            </a:r>
            <a:endParaRPr b="0" i="0" sz="1783" u="none" cap="none" strike="noStrike"/>
          </a:p>
        </p:txBody>
      </p:sp>
      <p:sp>
        <p:nvSpPr>
          <p:cNvPr id="61" name="Google Shape;61;p7"/>
          <p:cNvSpPr/>
          <p:nvPr/>
        </p:nvSpPr>
        <p:spPr>
          <a:xfrm>
            <a:off x="8106185" y="3945831"/>
            <a:ext cx="37194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92"/>
              <a:buFont typeface="Inter"/>
              <a:buNone/>
            </a:pPr>
            <a:r>
              <a:rPr b="0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Cria ambientes completamente </a:t>
            </a:r>
            <a:r>
              <a:rPr b="1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isolados</a:t>
            </a:r>
            <a:r>
              <a:rPr b="0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que simulam hardware real, permitindo testes seguros sem afetar o sistema principal.</a:t>
            </a:r>
            <a:endParaRPr b="0" i="0" sz="1392" u="none" cap="none" strike="noStrike"/>
          </a:p>
        </p:txBody>
      </p:sp>
      <p:sp>
        <p:nvSpPr>
          <p:cNvPr id="62" name="Google Shape;62;p7"/>
          <p:cNvSpPr/>
          <p:nvPr/>
        </p:nvSpPr>
        <p:spPr>
          <a:xfrm>
            <a:off x="8106185" y="5235066"/>
            <a:ext cx="22767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83"/>
              <a:buFont typeface="Inter"/>
              <a:buNone/>
            </a:pPr>
            <a:r>
              <a:rPr b="1" i="0" lang="pt-BR" sz="1783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Aplicações</a:t>
            </a:r>
            <a:endParaRPr b="0" i="0" sz="1783" u="none" cap="none" strike="noStrike"/>
          </a:p>
        </p:txBody>
      </p:sp>
      <p:sp>
        <p:nvSpPr>
          <p:cNvPr id="63" name="Google Shape;63;p7"/>
          <p:cNvSpPr/>
          <p:nvPr/>
        </p:nvSpPr>
        <p:spPr>
          <a:xfrm>
            <a:off x="8106185" y="5687701"/>
            <a:ext cx="3719400" cy="8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92"/>
              <a:buFont typeface="Inter"/>
              <a:buNone/>
            </a:pPr>
            <a:r>
              <a:rPr b="0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Amplamente utilizada em </a:t>
            </a:r>
            <a:r>
              <a:rPr b="1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laboratórios de testes</a:t>
            </a:r>
            <a:r>
              <a:rPr b="0" i="0" lang="pt-BR" sz="1392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, desenvolvimento de software e ambientes de produção.</a:t>
            </a:r>
            <a:endParaRPr b="0" i="0" sz="1392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Vantagens da Virtualização</a:t>
            </a:r>
            <a:endParaRPr/>
          </a:p>
        </p:txBody>
      </p:sp>
      <p:sp>
        <p:nvSpPr>
          <p:cNvPr id="70" name="Google Shape;70;p8"/>
          <p:cNvSpPr/>
          <p:nvPr/>
        </p:nvSpPr>
        <p:spPr>
          <a:xfrm>
            <a:off x="396961" y="2357276"/>
            <a:ext cx="27876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23"/>
              <a:buFont typeface="Inter"/>
              <a:buNone/>
            </a:pPr>
            <a:r>
              <a:rPr b="1" i="0" lang="pt-BR" sz="1923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Economia de Hardware</a:t>
            </a:r>
            <a:endParaRPr b="0" i="0" sz="1923" u="none" cap="none" strike="noStrike"/>
          </a:p>
        </p:txBody>
      </p:sp>
      <p:sp>
        <p:nvSpPr>
          <p:cNvPr id="71" name="Google Shape;71;p8"/>
          <p:cNvSpPr/>
          <p:nvPr/>
        </p:nvSpPr>
        <p:spPr>
          <a:xfrm>
            <a:off x="396961" y="2785853"/>
            <a:ext cx="55752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29"/>
              <a:buFont typeface="Inter"/>
              <a:buNone/>
            </a:pPr>
            <a:r>
              <a:rPr b="0" i="0" lang="pt-BR" sz="152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Reduz custos ao consolidar múltiplos servidores em uma única máquina física</a:t>
            </a:r>
            <a:endParaRPr b="0" i="0" sz="1529" u="none" cap="none" strike="noStrike"/>
          </a:p>
        </p:txBody>
      </p:sp>
      <p:sp>
        <p:nvSpPr>
          <p:cNvPr id="72" name="Google Shape;72;p8"/>
          <p:cNvSpPr/>
          <p:nvPr/>
        </p:nvSpPr>
        <p:spPr>
          <a:xfrm>
            <a:off x="6219847" y="2357276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23"/>
              <a:buFont typeface="Inter"/>
              <a:buNone/>
            </a:pPr>
            <a:r>
              <a:rPr b="1" i="0" lang="pt-BR" sz="1923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Ambientes Isolados</a:t>
            </a:r>
            <a:endParaRPr b="0" i="0" sz="1923" u="none" cap="none" strike="noStrike"/>
          </a:p>
        </p:txBody>
      </p:sp>
      <p:sp>
        <p:nvSpPr>
          <p:cNvPr id="73" name="Google Shape;73;p8"/>
          <p:cNvSpPr/>
          <p:nvPr/>
        </p:nvSpPr>
        <p:spPr>
          <a:xfrm>
            <a:off x="6219847" y="2785853"/>
            <a:ext cx="55752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29"/>
              <a:buFont typeface="Inter"/>
              <a:buNone/>
            </a:pPr>
            <a:r>
              <a:rPr b="0" i="0" lang="pt-BR" sz="152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Testes seguros sem risco de comprometer o sistema operacional principal</a:t>
            </a:r>
            <a:endParaRPr b="0" i="0" sz="1529" u="none" cap="none" strike="noStrike"/>
          </a:p>
        </p:txBody>
      </p:sp>
      <p:sp>
        <p:nvSpPr>
          <p:cNvPr id="74" name="Google Shape;74;p8"/>
          <p:cNvSpPr/>
          <p:nvPr/>
        </p:nvSpPr>
        <p:spPr>
          <a:xfrm>
            <a:off x="396961" y="4658943"/>
            <a:ext cx="27030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23"/>
              <a:buFont typeface="Inter"/>
              <a:buNone/>
            </a:pPr>
            <a:r>
              <a:rPr b="1" i="0" lang="pt-BR" sz="1923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Facilidade para Testes</a:t>
            </a:r>
            <a:endParaRPr b="0" i="0" sz="1923" u="none" cap="none" strike="noStrike"/>
          </a:p>
        </p:txBody>
      </p:sp>
      <p:sp>
        <p:nvSpPr>
          <p:cNvPr id="75" name="Google Shape;75;p8"/>
          <p:cNvSpPr/>
          <p:nvPr/>
        </p:nvSpPr>
        <p:spPr>
          <a:xfrm>
            <a:off x="396961" y="5087522"/>
            <a:ext cx="55752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29"/>
              <a:buFont typeface="Inter"/>
              <a:buNone/>
            </a:pPr>
            <a:r>
              <a:rPr b="0" i="0" lang="pt-BR" sz="152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Criação rápida de snapshots e recuperação instantânea de configurações</a:t>
            </a:r>
            <a:endParaRPr b="0" i="0" sz="1529" u="none" cap="none" strike="noStrike"/>
          </a:p>
        </p:txBody>
      </p:sp>
      <p:sp>
        <p:nvSpPr>
          <p:cNvPr id="76" name="Google Shape;76;p8"/>
          <p:cNvSpPr/>
          <p:nvPr/>
        </p:nvSpPr>
        <p:spPr>
          <a:xfrm>
            <a:off x="6219847" y="4658943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23"/>
              <a:buFont typeface="Inter"/>
              <a:buNone/>
            </a:pPr>
            <a:r>
              <a:rPr b="1" i="0" lang="pt-BR" sz="1923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Múltiplos Sistemas</a:t>
            </a:r>
            <a:endParaRPr b="0" i="0" sz="1923" u="none" cap="none" strike="noStrike"/>
          </a:p>
        </p:txBody>
      </p:sp>
      <p:sp>
        <p:nvSpPr>
          <p:cNvPr id="77" name="Google Shape;77;p8"/>
          <p:cNvSpPr/>
          <p:nvPr/>
        </p:nvSpPr>
        <p:spPr>
          <a:xfrm>
            <a:off x="6219847" y="5087522"/>
            <a:ext cx="55752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29"/>
              <a:buFont typeface="Inter"/>
              <a:buNone/>
            </a:pPr>
            <a:r>
              <a:rPr b="0" i="0" lang="pt-BR" sz="152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Execução simultânea de diferentes SOs: Windows, Linux, macOS e outros</a:t>
            </a:r>
            <a:endParaRPr b="0" i="0" sz="1529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200" y="1005375"/>
            <a:ext cx="11839575" cy="551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Hypervisor é a camada responsável por criar, executar e gerenciar máquinas virtuais.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Principais funções: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Distribuir CPU e memória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Gerenciar dispositivos virtuais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Isolar máquinas virtuais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Controlar acesso ao hardware</a:t>
            </a:r>
            <a:endParaRPr/>
          </a:p>
        </p:txBody>
      </p:sp>
      <p:sp>
        <p:nvSpPr>
          <p:cNvPr id="90" name="Google Shape;90;p1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um Hypervisor?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Conceito de Máquina Virtual</a:t>
            </a:r>
            <a:endParaRPr/>
          </a:p>
        </p:txBody>
      </p:sp>
      <p:pic>
        <p:nvPicPr>
          <p:cNvPr descr="preencoded.png" id="97" name="Google Shape;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8502" y="2245254"/>
            <a:ext cx="1106448" cy="1327666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/>
          <p:nvPr/>
        </p:nvSpPr>
        <p:spPr>
          <a:xfrm>
            <a:off x="3620810" y="2466473"/>
            <a:ext cx="36240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Inter"/>
              <a:buNone/>
            </a:pPr>
            <a:r>
              <a:rPr b="1" i="0" lang="pt-BR" sz="2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Sistema Hospedeiro (Host)</a:t>
            </a:r>
            <a:endParaRPr b="0" i="0" sz="2150" u="none" cap="none" strike="noStrike"/>
          </a:p>
        </p:txBody>
      </p:sp>
      <p:sp>
        <p:nvSpPr>
          <p:cNvPr id="99" name="Google Shape;99;p11"/>
          <p:cNvSpPr/>
          <p:nvPr/>
        </p:nvSpPr>
        <p:spPr>
          <a:xfrm>
            <a:off x="3620810" y="2941532"/>
            <a:ext cx="6272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0" i="0" lang="pt-BR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Sistema operacional principal do computador físico</a:t>
            </a:r>
            <a:endParaRPr b="0" i="0" sz="1700" u="none" cap="none" strike="noStrike"/>
          </a:p>
        </p:txBody>
      </p:sp>
      <p:pic>
        <p:nvPicPr>
          <p:cNvPr descr="preencoded.png" id="100" name="Google Shape;10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98502" y="3572920"/>
            <a:ext cx="1106448" cy="132766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1"/>
          <p:cNvSpPr/>
          <p:nvPr/>
        </p:nvSpPr>
        <p:spPr>
          <a:xfrm>
            <a:off x="3620810" y="3794138"/>
            <a:ext cx="27663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Inter"/>
              <a:buNone/>
            </a:pPr>
            <a:r>
              <a:rPr b="1" i="0" lang="pt-BR" sz="2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Virtualização</a:t>
            </a:r>
            <a:endParaRPr b="0" i="0" sz="2150" u="none" cap="none" strike="noStrike"/>
          </a:p>
        </p:txBody>
      </p:sp>
      <p:sp>
        <p:nvSpPr>
          <p:cNvPr id="102" name="Google Shape;102;p11"/>
          <p:cNvSpPr/>
          <p:nvPr/>
        </p:nvSpPr>
        <p:spPr>
          <a:xfrm>
            <a:off x="3620810" y="4269198"/>
            <a:ext cx="6272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0" i="0" lang="pt-BR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Camada que simula hardware para o sistema convidado</a:t>
            </a:r>
            <a:endParaRPr b="0" i="0" sz="1700" u="none" cap="none" strike="noStrike"/>
          </a:p>
        </p:txBody>
      </p:sp>
      <p:pic>
        <p:nvPicPr>
          <p:cNvPr descr="preencoded.png" id="103" name="Google Shape;10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98502" y="4900586"/>
            <a:ext cx="1106448" cy="132766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1"/>
          <p:cNvSpPr/>
          <p:nvPr/>
        </p:nvSpPr>
        <p:spPr>
          <a:xfrm>
            <a:off x="3620810" y="5121804"/>
            <a:ext cx="36888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Inter"/>
              <a:buNone/>
            </a:pPr>
            <a:r>
              <a:rPr b="1" i="0" lang="pt-BR" sz="2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Sistema Convidado (Guest)</a:t>
            </a:r>
            <a:endParaRPr b="0" i="0" sz="2150" u="none" cap="none" strike="noStrike"/>
          </a:p>
        </p:txBody>
      </p:sp>
      <p:sp>
        <p:nvSpPr>
          <p:cNvPr id="105" name="Google Shape;105;p11"/>
          <p:cNvSpPr/>
          <p:nvPr/>
        </p:nvSpPr>
        <p:spPr>
          <a:xfrm>
            <a:off x="3620810" y="5596864"/>
            <a:ext cx="62727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76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0" i="0" lang="pt-BR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OS executado dentro da máquina virtual isolada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Ferramenta de virtualização desenvolvida pela Oracle 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Gratuita e open-source para uso pessoal e educacional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Multiplataforma: funciona em Windows, Linux, macOS e Solaris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Amplamente utilizada em laboratórios educacionais e testes de sistemas operacionais</a:t>
            </a:r>
            <a:endParaRPr/>
          </a:p>
        </p:txBody>
      </p:sp>
      <p:sp>
        <p:nvSpPr>
          <p:cNvPr id="112" name="Google Shape;112;p1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é Oracle VirtualBox?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Interface do VirtualBox</a:t>
            </a:r>
            <a:endParaRPr/>
          </a:p>
        </p:txBody>
      </p:sp>
      <p:sp>
        <p:nvSpPr>
          <p:cNvPr id="119" name="Google Shape;119;p13"/>
          <p:cNvSpPr/>
          <p:nvPr/>
        </p:nvSpPr>
        <p:spPr>
          <a:xfrm>
            <a:off x="2358600" y="1925742"/>
            <a:ext cx="7474800" cy="949200"/>
          </a:xfrm>
          <a:prstGeom prst="roundRect">
            <a:avLst>
              <a:gd fmla="val 711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3"/>
          <p:cNvSpPr/>
          <p:nvPr/>
        </p:nvSpPr>
        <p:spPr>
          <a:xfrm>
            <a:off x="2358600" y="1911676"/>
            <a:ext cx="7474800" cy="56100"/>
          </a:xfrm>
          <a:prstGeom prst="roundRect">
            <a:avLst>
              <a:gd fmla="val 102915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3"/>
          <p:cNvSpPr/>
          <p:nvPr/>
        </p:nvSpPr>
        <p:spPr>
          <a:xfrm>
            <a:off x="5889200" y="1719033"/>
            <a:ext cx="413400" cy="413400"/>
          </a:xfrm>
          <a:prstGeom prst="roundRect">
            <a:avLst>
              <a:gd fmla="val 204093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3"/>
          <p:cNvSpPr/>
          <p:nvPr/>
        </p:nvSpPr>
        <p:spPr>
          <a:xfrm>
            <a:off x="6013269" y="1822443"/>
            <a:ext cx="1653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2"/>
              <a:buFont typeface="Inter"/>
              <a:buNone/>
            </a:pPr>
            <a:r>
              <a:rPr b="1" i="0" lang="pt-BR" sz="1292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292" u="none" cap="none" strike="noStrike"/>
          </a:p>
        </p:txBody>
      </p:sp>
      <p:sp>
        <p:nvSpPr>
          <p:cNvPr id="123" name="Google Shape;123;p13"/>
          <p:cNvSpPr/>
          <p:nvPr/>
        </p:nvSpPr>
        <p:spPr>
          <a:xfrm>
            <a:off x="2510473" y="2241934"/>
            <a:ext cx="172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38"/>
              <a:buFont typeface="Inter"/>
              <a:buNone/>
            </a:pPr>
            <a:r>
              <a:rPr b="1" i="0" lang="pt-BR" sz="1638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Painel Principal</a:t>
            </a:r>
            <a:endParaRPr b="0" i="0" sz="1638" u="none" cap="none" strike="noStrike"/>
          </a:p>
        </p:txBody>
      </p:sp>
      <p:sp>
        <p:nvSpPr>
          <p:cNvPr id="124" name="Google Shape;124;p13"/>
          <p:cNvSpPr/>
          <p:nvPr/>
        </p:nvSpPr>
        <p:spPr>
          <a:xfrm>
            <a:off x="2510473" y="2540155"/>
            <a:ext cx="7171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61"/>
              <a:buFont typeface="Inter"/>
              <a:buNone/>
            </a:pPr>
            <a:r>
              <a:rPr b="0" i="0" lang="pt-BR" sz="1361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Lista de todas as máquinas virtuais disponíveis, com status e informações básicas</a:t>
            </a:r>
            <a:endParaRPr b="0" i="0" sz="1361" u="none" cap="none" strike="noStrike"/>
          </a:p>
        </p:txBody>
      </p:sp>
      <p:sp>
        <p:nvSpPr>
          <p:cNvPr id="125" name="Google Shape;125;p13"/>
          <p:cNvSpPr/>
          <p:nvPr/>
        </p:nvSpPr>
        <p:spPr>
          <a:xfrm>
            <a:off x="2358600" y="3172481"/>
            <a:ext cx="7474800" cy="949200"/>
          </a:xfrm>
          <a:prstGeom prst="roundRect">
            <a:avLst>
              <a:gd fmla="val 711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2358600" y="3158414"/>
            <a:ext cx="7474800" cy="56100"/>
          </a:xfrm>
          <a:prstGeom prst="roundRect">
            <a:avLst>
              <a:gd fmla="val 102915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3"/>
          <p:cNvSpPr/>
          <p:nvPr/>
        </p:nvSpPr>
        <p:spPr>
          <a:xfrm>
            <a:off x="5889200" y="2965772"/>
            <a:ext cx="413400" cy="413400"/>
          </a:xfrm>
          <a:prstGeom prst="roundRect">
            <a:avLst>
              <a:gd fmla="val 204093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6013269" y="3069181"/>
            <a:ext cx="1653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2"/>
              <a:buFont typeface="Inter"/>
              <a:buNone/>
            </a:pPr>
            <a:r>
              <a:rPr b="1" i="0" lang="pt-BR" sz="1292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292" u="none" cap="none" strike="noStrike"/>
          </a:p>
        </p:txBody>
      </p:sp>
      <p:sp>
        <p:nvSpPr>
          <p:cNvPr id="129" name="Google Shape;129;p13"/>
          <p:cNvSpPr/>
          <p:nvPr/>
        </p:nvSpPr>
        <p:spPr>
          <a:xfrm>
            <a:off x="2510473" y="3488673"/>
            <a:ext cx="172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38"/>
              <a:buFont typeface="Inter"/>
              <a:buNone/>
            </a:pPr>
            <a:r>
              <a:rPr b="1" i="0" lang="pt-BR" sz="1638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Configurações</a:t>
            </a:r>
            <a:endParaRPr b="0" i="0" sz="1638" u="none" cap="none" strike="noStrike"/>
          </a:p>
        </p:txBody>
      </p:sp>
      <p:sp>
        <p:nvSpPr>
          <p:cNvPr id="130" name="Google Shape;130;p13"/>
          <p:cNvSpPr/>
          <p:nvPr/>
        </p:nvSpPr>
        <p:spPr>
          <a:xfrm>
            <a:off x="2510473" y="3786894"/>
            <a:ext cx="7171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61"/>
              <a:buFont typeface="Inter"/>
              <a:buNone/>
            </a:pPr>
            <a:r>
              <a:rPr b="0" i="0" lang="pt-BR" sz="1361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Painel para ajustar recursos: CPU, memória RAM, disco e dispositivos</a:t>
            </a:r>
            <a:endParaRPr b="0" i="0" sz="1361" u="none" cap="none" strike="noStrike"/>
          </a:p>
        </p:txBody>
      </p:sp>
      <p:sp>
        <p:nvSpPr>
          <p:cNvPr id="131" name="Google Shape;131;p13"/>
          <p:cNvSpPr/>
          <p:nvPr/>
        </p:nvSpPr>
        <p:spPr>
          <a:xfrm>
            <a:off x="2358600" y="4419220"/>
            <a:ext cx="7474800" cy="949200"/>
          </a:xfrm>
          <a:prstGeom prst="roundRect">
            <a:avLst>
              <a:gd fmla="val 711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3"/>
          <p:cNvSpPr/>
          <p:nvPr/>
        </p:nvSpPr>
        <p:spPr>
          <a:xfrm>
            <a:off x="2358600" y="4405153"/>
            <a:ext cx="7474800" cy="56100"/>
          </a:xfrm>
          <a:prstGeom prst="roundRect">
            <a:avLst>
              <a:gd fmla="val 102915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3"/>
          <p:cNvSpPr/>
          <p:nvPr/>
        </p:nvSpPr>
        <p:spPr>
          <a:xfrm>
            <a:off x="5889200" y="4212510"/>
            <a:ext cx="413400" cy="413400"/>
          </a:xfrm>
          <a:prstGeom prst="roundRect">
            <a:avLst>
              <a:gd fmla="val 204093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3"/>
          <p:cNvSpPr/>
          <p:nvPr/>
        </p:nvSpPr>
        <p:spPr>
          <a:xfrm>
            <a:off x="6013269" y="4315920"/>
            <a:ext cx="1653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2"/>
              <a:buFont typeface="Inter"/>
              <a:buNone/>
            </a:pPr>
            <a:r>
              <a:rPr b="1" i="0" lang="pt-BR" sz="1292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292" u="none" cap="none" strike="noStrike"/>
          </a:p>
        </p:txBody>
      </p:sp>
      <p:sp>
        <p:nvSpPr>
          <p:cNvPr id="135" name="Google Shape;135;p13"/>
          <p:cNvSpPr/>
          <p:nvPr/>
        </p:nvSpPr>
        <p:spPr>
          <a:xfrm>
            <a:off x="2510473" y="4735412"/>
            <a:ext cx="172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38"/>
              <a:buFont typeface="Inter"/>
              <a:buNone/>
            </a:pPr>
            <a:r>
              <a:rPr b="1" i="0" lang="pt-BR" sz="1638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Armazenamento</a:t>
            </a:r>
            <a:endParaRPr b="0" i="0" sz="1638" u="none" cap="none" strike="noStrike"/>
          </a:p>
        </p:txBody>
      </p:sp>
      <p:sp>
        <p:nvSpPr>
          <p:cNvPr id="136" name="Google Shape;136;p13"/>
          <p:cNvSpPr/>
          <p:nvPr/>
        </p:nvSpPr>
        <p:spPr>
          <a:xfrm>
            <a:off x="2510473" y="5033632"/>
            <a:ext cx="7171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61"/>
              <a:buFont typeface="Inter"/>
              <a:buNone/>
            </a:pPr>
            <a:r>
              <a:rPr b="0" i="0" lang="pt-BR" sz="1361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Gestão de discos virtuais e conexão de mídias ISO para instalação</a:t>
            </a:r>
            <a:endParaRPr b="0" i="0" sz="1361" u="none" cap="none" strike="noStrike"/>
          </a:p>
        </p:txBody>
      </p:sp>
      <p:sp>
        <p:nvSpPr>
          <p:cNvPr id="137" name="Google Shape;137;p13"/>
          <p:cNvSpPr/>
          <p:nvPr/>
        </p:nvSpPr>
        <p:spPr>
          <a:xfrm>
            <a:off x="2358600" y="5665958"/>
            <a:ext cx="7474800" cy="949200"/>
          </a:xfrm>
          <a:prstGeom prst="roundRect">
            <a:avLst>
              <a:gd fmla="val 711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3"/>
          <p:cNvSpPr/>
          <p:nvPr/>
        </p:nvSpPr>
        <p:spPr>
          <a:xfrm>
            <a:off x="2358600" y="5651892"/>
            <a:ext cx="7474800" cy="56100"/>
          </a:xfrm>
          <a:prstGeom prst="roundRect">
            <a:avLst>
              <a:gd fmla="val 102915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3"/>
          <p:cNvSpPr/>
          <p:nvPr/>
        </p:nvSpPr>
        <p:spPr>
          <a:xfrm>
            <a:off x="5889200" y="5459248"/>
            <a:ext cx="413400" cy="413400"/>
          </a:xfrm>
          <a:prstGeom prst="roundRect">
            <a:avLst>
              <a:gd fmla="val 204093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84375" lIns="84375" spcFirstLastPara="1" rIns="84375" wrap="square" tIns="843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3"/>
          <p:cNvSpPr/>
          <p:nvPr/>
        </p:nvSpPr>
        <p:spPr>
          <a:xfrm>
            <a:off x="6013269" y="5562658"/>
            <a:ext cx="165300" cy="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92"/>
              <a:buFont typeface="Inter"/>
              <a:buNone/>
            </a:pPr>
            <a:r>
              <a:rPr b="1" i="0" lang="pt-BR" sz="1292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292" u="none" cap="none" strike="noStrike"/>
          </a:p>
        </p:txBody>
      </p:sp>
      <p:sp>
        <p:nvSpPr>
          <p:cNvPr id="141" name="Google Shape;141;p13"/>
          <p:cNvSpPr/>
          <p:nvPr/>
        </p:nvSpPr>
        <p:spPr>
          <a:xfrm>
            <a:off x="2510473" y="5982150"/>
            <a:ext cx="1723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38"/>
              <a:buFont typeface="Inter"/>
              <a:buNone/>
            </a:pPr>
            <a:r>
              <a:rPr b="1" i="0" lang="pt-BR" sz="1638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Rede</a:t>
            </a:r>
            <a:endParaRPr b="0" i="0" sz="1638" u="none" cap="none" strike="noStrike"/>
          </a:p>
        </p:txBody>
      </p:sp>
      <p:sp>
        <p:nvSpPr>
          <p:cNvPr id="142" name="Google Shape;142;p13"/>
          <p:cNvSpPr/>
          <p:nvPr/>
        </p:nvSpPr>
        <p:spPr>
          <a:xfrm>
            <a:off x="2510473" y="6280370"/>
            <a:ext cx="7171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78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61"/>
              <a:buFont typeface="Inter"/>
              <a:buNone/>
            </a:pPr>
            <a:r>
              <a:rPr b="0" i="0" lang="pt-BR" sz="1361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Configuração de adaptadores de rede e conectividade com internet</a:t>
            </a:r>
            <a:endParaRPr b="0" i="0" sz="1361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de SO - Tiny Core Linux</a:t>
            </a:r>
            <a:endParaRPr/>
          </a:p>
        </p:txBody>
      </p:sp>
      <p:pic>
        <p:nvPicPr>
          <p:cNvPr id="149" name="Google Shape;14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775" y="2113100"/>
            <a:ext cx="11020425" cy="415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4"/>
          <p:cNvSpPr txBox="1"/>
          <p:nvPr/>
        </p:nvSpPr>
        <p:spPr>
          <a:xfrm>
            <a:off x="3899538" y="6266000"/>
            <a:ext cx="4392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Fonte</a:t>
            </a:r>
            <a:r>
              <a:rPr lang="pt-BR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pt-BR" sz="17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tinycorelinux.net/downloads.html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34775"/>
            <a:ext cx="11887198" cy="5716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Criando uma Máquina Virtual</a:t>
            </a:r>
            <a:endParaRPr/>
          </a:p>
        </p:txBody>
      </p:sp>
      <p:sp>
        <p:nvSpPr>
          <p:cNvPr id="163" name="Google Shape;163;p16"/>
          <p:cNvSpPr/>
          <p:nvPr/>
        </p:nvSpPr>
        <p:spPr>
          <a:xfrm>
            <a:off x="694132" y="2553451"/>
            <a:ext cx="5302800" cy="198300"/>
          </a:xfrm>
          <a:prstGeom prst="roundRect">
            <a:avLst>
              <a:gd fmla="val 42003" name="adj"/>
            </a:avLst>
          </a:prstGeom>
          <a:solidFill>
            <a:srgbClr val="DADBF1"/>
          </a:solidFill>
          <a:ln cap="flat" cmpd="sng" w="83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396861" y="2355184"/>
            <a:ext cx="594600" cy="594600"/>
          </a:xfrm>
          <a:prstGeom prst="roundRect">
            <a:avLst>
              <a:gd fmla="val 67192" name="adj"/>
            </a:avLst>
          </a:prstGeom>
          <a:solidFill>
            <a:srgbClr val="DADBF1"/>
          </a:solidFill>
          <a:ln cap="flat" cmpd="sng" w="83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6"/>
          <p:cNvSpPr/>
          <p:nvPr/>
        </p:nvSpPr>
        <p:spPr>
          <a:xfrm>
            <a:off x="595077" y="3148099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23"/>
              <a:buFont typeface="Inter"/>
              <a:buNone/>
            </a:pPr>
            <a:r>
              <a:rPr b="1" i="0" lang="pt-BR" sz="1923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Novo</a:t>
            </a:r>
            <a:endParaRPr b="0" i="0" sz="1923" u="none" cap="none" strike="noStrike"/>
          </a:p>
        </p:txBody>
      </p:sp>
      <p:sp>
        <p:nvSpPr>
          <p:cNvPr id="166" name="Google Shape;166;p16"/>
          <p:cNvSpPr/>
          <p:nvPr/>
        </p:nvSpPr>
        <p:spPr>
          <a:xfrm>
            <a:off x="595077" y="3576683"/>
            <a:ext cx="52035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29"/>
              <a:buFont typeface="Inter"/>
              <a:buNone/>
            </a:pPr>
            <a:r>
              <a:rPr b="0" i="0" lang="pt-BR" sz="152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Clique no botão "Nova" para iniciar a criação da VM</a:t>
            </a:r>
            <a:endParaRPr b="0" i="0" sz="1529" u="none" cap="none" strike="noStrike"/>
          </a:p>
        </p:txBody>
      </p:sp>
      <p:sp>
        <p:nvSpPr>
          <p:cNvPr id="167" name="Google Shape;167;p16"/>
          <p:cNvSpPr/>
          <p:nvPr/>
        </p:nvSpPr>
        <p:spPr>
          <a:xfrm>
            <a:off x="6492333" y="2256180"/>
            <a:ext cx="5302800" cy="198300"/>
          </a:xfrm>
          <a:prstGeom prst="roundRect">
            <a:avLst>
              <a:gd fmla="val 42003" name="adj"/>
            </a:avLst>
          </a:prstGeom>
          <a:solidFill>
            <a:srgbClr val="DADBF1"/>
          </a:solidFill>
          <a:ln cap="flat" cmpd="sng" w="83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6195062" y="2057912"/>
            <a:ext cx="594600" cy="594600"/>
          </a:xfrm>
          <a:prstGeom prst="roundRect">
            <a:avLst>
              <a:gd fmla="val 67192" name="adj"/>
            </a:avLst>
          </a:prstGeom>
          <a:solidFill>
            <a:srgbClr val="DADBF1"/>
          </a:solidFill>
          <a:ln cap="flat" cmpd="sng" w="83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6393277" y="2850828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23"/>
              <a:buFont typeface="Inter"/>
              <a:buNone/>
            </a:pPr>
            <a:r>
              <a:rPr b="1" i="0" lang="pt-BR" sz="1923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Tipo de SO</a:t>
            </a:r>
            <a:endParaRPr b="0" i="0" sz="1923" u="none" cap="none" strike="noStrike"/>
          </a:p>
        </p:txBody>
      </p:sp>
      <p:sp>
        <p:nvSpPr>
          <p:cNvPr id="170" name="Google Shape;170;p16"/>
          <p:cNvSpPr/>
          <p:nvPr/>
        </p:nvSpPr>
        <p:spPr>
          <a:xfrm>
            <a:off x="6393277" y="3279410"/>
            <a:ext cx="52035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29"/>
              <a:buFont typeface="Inter"/>
              <a:buNone/>
            </a:pPr>
            <a:r>
              <a:rPr b="0" i="0" lang="pt-BR" sz="152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Escolha o sistema operacional e versão que será instalado</a:t>
            </a:r>
            <a:endParaRPr b="0" i="0" sz="1529" u="none" cap="none" strike="noStrike"/>
          </a:p>
        </p:txBody>
      </p:sp>
      <p:sp>
        <p:nvSpPr>
          <p:cNvPr id="171" name="Google Shape;171;p16"/>
          <p:cNvSpPr/>
          <p:nvPr/>
        </p:nvSpPr>
        <p:spPr>
          <a:xfrm>
            <a:off x="694132" y="4805621"/>
            <a:ext cx="5302800" cy="198300"/>
          </a:xfrm>
          <a:prstGeom prst="roundRect">
            <a:avLst>
              <a:gd fmla="val 42003" name="adj"/>
            </a:avLst>
          </a:prstGeom>
          <a:solidFill>
            <a:srgbClr val="DADBF1"/>
          </a:solidFill>
          <a:ln cap="flat" cmpd="sng" w="83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396861" y="4607353"/>
            <a:ext cx="594600" cy="594600"/>
          </a:xfrm>
          <a:prstGeom prst="roundRect">
            <a:avLst>
              <a:gd fmla="val 67192" name="adj"/>
            </a:avLst>
          </a:prstGeom>
          <a:solidFill>
            <a:srgbClr val="DADBF1"/>
          </a:solidFill>
          <a:ln cap="flat" cmpd="sng" w="83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595077" y="5400268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23"/>
              <a:buFont typeface="Inter"/>
              <a:buNone/>
            </a:pPr>
            <a:r>
              <a:rPr b="1" i="0" lang="pt-BR" sz="1923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Memória RAM</a:t>
            </a:r>
            <a:endParaRPr b="0" i="0" sz="1923" u="none" cap="none" strike="noStrike"/>
          </a:p>
        </p:txBody>
      </p:sp>
      <p:sp>
        <p:nvSpPr>
          <p:cNvPr id="174" name="Google Shape;174;p16"/>
          <p:cNvSpPr/>
          <p:nvPr/>
        </p:nvSpPr>
        <p:spPr>
          <a:xfrm>
            <a:off x="595077" y="5828852"/>
            <a:ext cx="52035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29"/>
              <a:buFont typeface="Inter"/>
              <a:buNone/>
            </a:pPr>
            <a:r>
              <a:rPr b="0" i="0" lang="pt-BR" sz="152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Defina a quantidade de memória (recomendado: 2048 MB ou mais)</a:t>
            </a:r>
            <a:endParaRPr b="0" i="0" sz="1529" u="none" cap="none" strike="noStrike"/>
          </a:p>
        </p:txBody>
      </p:sp>
      <p:sp>
        <p:nvSpPr>
          <p:cNvPr id="175" name="Google Shape;175;p16"/>
          <p:cNvSpPr/>
          <p:nvPr/>
        </p:nvSpPr>
        <p:spPr>
          <a:xfrm>
            <a:off x="6492333" y="4508349"/>
            <a:ext cx="5302800" cy="198300"/>
          </a:xfrm>
          <a:prstGeom prst="roundRect">
            <a:avLst>
              <a:gd fmla="val 42003" name="adj"/>
            </a:avLst>
          </a:prstGeom>
          <a:solidFill>
            <a:srgbClr val="DADBF1"/>
          </a:solidFill>
          <a:ln cap="flat" cmpd="sng" w="83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"/>
          <p:cNvSpPr/>
          <p:nvPr/>
        </p:nvSpPr>
        <p:spPr>
          <a:xfrm>
            <a:off x="6195062" y="4310081"/>
            <a:ext cx="594600" cy="594600"/>
          </a:xfrm>
          <a:prstGeom prst="roundRect">
            <a:avLst>
              <a:gd fmla="val 67192" name="adj"/>
            </a:avLst>
          </a:prstGeom>
          <a:solidFill>
            <a:srgbClr val="DADBF1"/>
          </a:solidFill>
          <a:ln cap="flat" cmpd="sng" w="83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900" lIns="79900" spcFirstLastPara="1" rIns="79900" wrap="square" tIns="7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6393277" y="5102997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23"/>
              <a:buFont typeface="Inter"/>
              <a:buNone/>
            </a:pPr>
            <a:r>
              <a:rPr b="1" i="0" lang="pt-BR" sz="1923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Disco Virtual</a:t>
            </a:r>
            <a:endParaRPr b="0" i="0" sz="1923" u="none" cap="none" strike="noStrike"/>
          </a:p>
        </p:txBody>
      </p:sp>
      <p:sp>
        <p:nvSpPr>
          <p:cNvPr id="178" name="Google Shape;178;p16"/>
          <p:cNvSpPr/>
          <p:nvPr/>
        </p:nvSpPr>
        <p:spPr>
          <a:xfrm>
            <a:off x="6393277" y="5531580"/>
            <a:ext cx="52035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29"/>
              <a:buFont typeface="Inter"/>
              <a:buNone/>
            </a:pPr>
            <a:r>
              <a:rPr b="0" i="0" lang="pt-BR" sz="1529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Crie um disco virtual (VHD) com espaço suficiente (20-40 GB)</a:t>
            </a:r>
            <a:endParaRPr b="0" i="0" sz="1529" u="none" cap="none" strike="noStrik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Instalando um Sistema Operacional</a:t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2139021" y="1894891"/>
            <a:ext cx="175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 Light"/>
              <a:buNone/>
            </a:pPr>
            <a:r>
              <a:rPr b="0" i="0" lang="pt-BR" sz="135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01</a:t>
            </a:r>
            <a:endParaRPr b="0" i="0" sz="1350" u="none" cap="none" strike="noStrike"/>
          </a:p>
        </p:txBody>
      </p:sp>
      <p:sp>
        <p:nvSpPr>
          <p:cNvPr id="186" name="Google Shape;186;p17"/>
          <p:cNvSpPr/>
          <p:nvPr/>
        </p:nvSpPr>
        <p:spPr>
          <a:xfrm>
            <a:off x="2139021" y="2170521"/>
            <a:ext cx="7914000" cy="2280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2139021" y="2303990"/>
            <a:ext cx="2196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1" i="0" lang="pt-BR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Obter ISO</a:t>
            </a:r>
            <a:endParaRPr b="0" i="0" sz="1700" u="none" cap="none" strike="noStrike"/>
          </a:p>
        </p:txBody>
      </p:sp>
      <p:sp>
        <p:nvSpPr>
          <p:cNvPr id="188" name="Google Shape;188;p17"/>
          <p:cNvSpPr/>
          <p:nvPr/>
        </p:nvSpPr>
        <p:spPr>
          <a:xfrm>
            <a:off x="2139021" y="2660225"/>
            <a:ext cx="7914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0" i="0" lang="pt-BR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Download do arquivo de instalação (extensão .iso) do sistema desejado</a:t>
            </a:r>
            <a:endParaRPr b="0" i="0" sz="1350" u="none" cap="none" strike="noStrike"/>
          </a:p>
        </p:txBody>
      </p:sp>
      <p:sp>
        <p:nvSpPr>
          <p:cNvPr id="189" name="Google Shape;189;p17"/>
          <p:cNvSpPr/>
          <p:nvPr/>
        </p:nvSpPr>
        <p:spPr>
          <a:xfrm>
            <a:off x="2139003" y="3177428"/>
            <a:ext cx="394500" cy="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 Light"/>
              <a:buNone/>
            </a:pPr>
            <a:r>
              <a:rPr b="0" i="0" lang="pt-BR" sz="135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02</a:t>
            </a:r>
            <a:endParaRPr b="0" i="0" sz="1350" u="none" cap="none" strike="noStrike"/>
          </a:p>
        </p:txBody>
      </p:sp>
      <p:sp>
        <p:nvSpPr>
          <p:cNvPr id="190" name="Google Shape;190;p17"/>
          <p:cNvSpPr/>
          <p:nvPr/>
        </p:nvSpPr>
        <p:spPr>
          <a:xfrm>
            <a:off x="2139021" y="3453062"/>
            <a:ext cx="7914000" cy="2280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7"/>
          <p:cNvSpPr/>
          <p:nvPr/>
        </p:nvSpPr>
        <p:spPr>
          <a:xfrm>
            <a:off x="2139021" y="3586531"/>
            <a:ext cx="2196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1" i="0" lang="pt-BR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Montar ISO</a:t>
            </a:r>
            <a:endParaRPr b="0" i="0" sz="1700" u="none" cap="none" strike="noStrike"/>
          </a:p>
        </p:txBody>
      </p:sp>
      <p:sp>
        <p:nvSpPr>
          <p:cNvPr id="192" name="Google Shape;192;p17"/>
          <p:cNvSpPr/>
          <p:nvPr/>
        </p:nvSpPr>
        <p:spPr>
          <a:xfrm>
            <a:off x="2139021" y="3942766"/>
            <a:ext cx="7914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0" i="0" lang="pt-BR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Em configurações de armazenamento, adicione o arquivo ISO como drive</a:t>
            </a:r>
            <a:endParaRPr b="0" i="0" sz="1350" u="none" cap="none" strike="noStrike"/>
          </a:p>
        </p:txBody>
      </p:sp>
      <p:sp>
        <p:nvSpPr>
          <p:cNvPr id="193" name="Google Shape;193;p17"/>
          <p:cNvSpPr/>
          <p:nvPr/>
        </p:nvSpPr>
        <p:spPr>
          <a:xfrm>
            <a:off x="2138999" y="4459975"/>
            <a:ext cx="4797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 Light"/>
              <a:buNone/>
            </a:pPr>
            <a:r>
              <a:rPr b="0" i="0" lang="pt-BR" sz="135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03</a:t>
            </a:r>
            <a:endParaRPr b="0" i="0" sz="1350" u="none" cap="none" strike="noStrike"/>
          </a:p>
        </p:txBody>
      </p:sp>
      <p:sp>
        <p:nvSpPr>
          <p:cNvPr id="194" name="Google Shape;194;p17"/>
          <p:cNvSpPr/>
          <p:nvPr/>
        </p:nvSpPr>
        <p:spPr>
          <a:xfrm>
            <a:off x="2139021" y="4735603"/>
            <a:ext cx="7914000" cy="2280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7"/>
          <p:cNvSpPr/>
          <p:nvPr/>
        </p:nvSpPr>
        <p:spPr>
          <a:xfrm>
            <a:off x="2139021" y="4869072"/>
            <a:ext cx="2196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1" i="0" lang="pt-BR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Iniciar VM</a:t>
            </a:r>
            <a:endParaRPr b="0" i="0" sz="1700" u="none" cap="none" strike="noStrike"/>
          </a:p>
        </p:txBody>
      </p:sp>
      <p:sp>
        <p:nvSpPr>
          <p:cNvPr id="196" name="Google Shape;196;p17"/>
          <p:cNvSpPr/>
          <p:nvPr/>
        </p:nvSpPr>
        <p:spPr>
          <a:xfrm>
            <a:off x="2139021" y="5225307"/>
            <a:ext cx="7914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0" i="0" lang="pt-BR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Clique em "Iniciar" para bootar a máquina virtual do disco virtual</a:t>
            </a:r>
            <a:endParaRPr b="0" i="0" sz="1350" u="none" cap="none" strike="noStrike"/>
          </a:p>
        </p:txBody>
      </p:sp>
      <p:sp>
        <p:nvSpPr>
          <p:cNvPr id="197" name="Google Shape;197;p17"/>
          <p:cNvSpPr/>
          <p:nvPr/>
        </p:nvSpPr>
        <p:spPr>
          <a:xfrm>
            <a:off x="2138984" y="5742525"/>
            <a:ext cx="792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 Light"/>
              <a:buNone/>
            </a:pPr>
            <a:r>
              <a:rPr b="0" i="0" lang="pt-BR" sz="1350" u="none" cap="none" strike="noStrike">
                <a:solidFill>
                  <a:srgbClr val="272525"/>
                </a:solidFill>
                <a:latin typeface="Inter Light"/>
                <a:ea typeface="Inter Light"/>
                <a:cs typeface="Inter Light"/>
                <a:sym typeface="Inter Light"/>
              </a:rPr>
              <a:t>04</a:t>
            </a:r>
            <a:endParaRPr b="0" i="0" sz="1350" u="none" cap="none" strike="noStrike"/>
          </a:p>
        </p:txBody>
      </p:sp>
      <p:sp>
        <p:nvSpPr>
          <p:cNvPr id="198" name="Google Shape;198;p17"/>
          <p:cNvSpPr/>
          <p:nvPr/>
        </p:nvSpPr>
        <p:spPr>
          <a:xfrm>
            <a:off x="2139021" y="6018144"/>
            <a:ext cx="7914000" cy="22800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7"/>
          <p:cNvSpPr/>
          <p:nvPr/>
        </p:nvSpPr>
        <p:spPr>
          <a:xfrm>
            <a:off x="2139021" y="6151613"/>
            <a:ext cx="21966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47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1" i="0" lang="pt-BR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Instalação</a:t>
            </a:r>
            <a:endParaRPr b="0" i="0" sz="1700" u="none" cap="none" strike="noStrike"/>
          </a:p>
        </p:txBody>
      </p:sp>
      <p:sp>
        <p:nvSpPr>
          <p:cNvPr id="200" name="Google Shape;200;p17"/>
          <p:cNvSpPr/>
          <p:nvPr/>
        </p:nvSpPr>
        <p:spPr>
          <a:xfrm>
            <a:off x="2139021" y="6507848"/>
            <a:ext cx="7914000" cy="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44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350"/>
              <a:buFont typeface="Inter"/>
              <a:buNone/>
            </a:pPr>
            <a:r>
              <a:rPr b="0" i="0" lang="pt-BR" sz="13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Siga o processo de instalação normal do sistema operacional</a:t>
            </a:r>
            <a:endParaRPr b="0" i="0" sz="1350" u="none" cap="none" strike="noStrik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8"/>
          <p:cNvPicPr preferRelativeResize="0"/>
          <p:nvPr/>
        </p:nvPicPr>
        <p:blipFill rotWithShape="1">
          <a:blip r:embed="rId3">
            <a:alphaModFix/>
          </a:blip>
          <a:srcRect b="5210" l="0" r="0" t="15858"/>
          <a:stretch/>
        </p:blipFill>
        <p:spPr>
          <a:xfrm>
            <a:off x="228600" y="1680875"/>
            <a:ext cx="11734800" cy="470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Distribuição Linux extremamente leve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ISO entre 17 MB e 248 MB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Ideal para testes, virtualização e sistemas personalizados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Sistema modular e personalizável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Focado em desempenho, simplicidade e baixo consumo de recursos</a:t>
            </a:r>
            <a:endParaRPr/>
          </a:p>
        </p:txBody>
      </p:sp>
      <p:sp>
        <p:nvSpPr>
          <p:cNvPr id="213" name="Google Shape;213;p1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de SO -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Tiny Core Linux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2100"/>
              </a:spcAft>
              <a:buNone/>
            </a:pPr>
            <a:r>
              <a:rPr lang="pt-BR" sz="2700"/>
              <a:t>Na próxima aula, 14/09/2026, serão realizadas as apresentações sobre sistemas operacionais virtualizados. Cada grupo deverá realizar uma apresentação com duração entre 10 e 15 minutos, abordando o sistema operacional escolhido e destacando aspectos como suas principais características e recursos, histórico e origem, evolução, derivações ou distribuições, aplicativos e ferramentas disponíveis, principais aplicações e casos de uso, vantagens e limitações, além de outras informações relevantes. </a:t>
            </a:r>
            <a:endParaRPr sz="2700"/>
          </a:p>
        </p:txBody>
      </p:sp>
      <p:sp>
        <p:nvSpPr>
          <p:cNvPr id="220" name="Google Shape;220;p2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Apresentação de Virtualização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grupos A, B e C realizarão as apresentações das 9h30 às 11h10, enquanto os grupos D, E e F apresentarão das 11h20 às 13h00. Cada integrante deverá participar da apresentação, contribuindo para o desenvolvimento e exposição do conteúdo do grupo. Sugestão: Se possível, trazer notebook pessoal.</a:t>
            </a:r>
            <a:endParaRPr/>
          </a:p>
          <a:p>
            <a:pPr indent="0" lvl="0" marL="0" rtl="0" algn="just"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Apresentação de Virtualização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Apresentação de Virtualização</a:t>
            </a:r>
            <a:endParaRPr/>
          </a:p>
        </p:txBody>
      </p:sp>
      <p:pic>
        <p:nvPicPr>
          <p:cNvPr id="234" name="Google Shape;2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0078" y="1806525"/>
            <a:ext cx="7111851" cy="4655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ct val="73913"/>
              <a:buNone/>
            </a:pPr>
            <a:r>
              <a:rPr b="1" lang="pt-BR" sz="4600"/>
              <a:t>Atividade</a:t>
            </a:r>
            <a:endParaRPr b="1" sz="4600"/>
          </a:p>
        </p:txBody>
      </p:sp>
      <p:sp>
        <p:nvSpPr>
          <p:cNvPr id="240" name="Google Shape;240;p23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Instale o Oracle VirtualBox em seu computador, crie uma máquina virtual usando os passos aprendidos Instale um Linux leve (ex: Tiny Core, Lubuntu ou Xubuntu) Teste o sistema virtualizado e explore suas funcionalidades;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2. Por fim, documente o processo na forma de Manual e salve no repositório da disciplina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47" name="Google Shape;247;p2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TANENBAUM, Andrew S.; BOS, Herbert. Sistemas Operacionais Modernos. 4. ed. São Paulo: Pearson, 2016.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SILBERSCHATZ, Abraham; GALVIN, Peter B.; GAGNE, Greg. Fundamentos de Sistemas Operacionais. 9. ed. Rio de Janeiro: LTC, 2015.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STALLINGS, William. Sistemas Operacionais: Conceitos e Projetos. 8. ed. São Paulo: Pearson, 2015.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DENARDIN, G. W.; BARRIQUELLO, C. H. Sistemas Operacionais de Tempo Real e sua Aplicação em Sistemas Embarcados. Porto Alegre: Editora da UFRGS, 2014.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AWASTHI, A.; RAWAT, V. Ramificação e Tarefas do Sistema Operacional. Edições Nosso Conhecimento, 2023.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DOWNEY, Allen B. Think OS: A Brief Introduction to Operating Systems. Green Tea Press, 2015.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RED HAT. Red Hat Enterprise Linux – System Administration Guide. Documentação Oficial.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DOCKER INC. Docker Documentation. Documentação Oficial. Disponível em: https://docs.docker.com</a:t>
            </a:r>
            <a:endParaRPr sz="204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5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>
                <a:solidFill>
                  <a:srgbClr val="202529"/>
                </a:solidFill>
              </a:rPr>
              <a:t>Introdução à Virtualização</a:t>
            </a:r>
            <a:endParaRPr sz="4500">
              <a:solidFill>
                <a:srgbClr val="202529"/>
              </a:solidFill>
            </a:endParaRPr>
          </a:p>
        </p:txBody>
      </p:sp>
      <p:sp>
        <p:nvSpPr>
          <p:cNvPr id="254" name="Google Shape;254;p25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Banded_Design_Teal">
      <a:dk1>
        <a:srgbClr val="363D3D"/>
      </a:dk1>
      <a:lt1>
        <a:srgbClr val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